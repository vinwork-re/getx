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91" r:id="rId3"/>
    <p:sldId id="258" r:id="rId4"/>
    <p:sldId id="292" r:id="rId5"/>
    <p:sldId id="265" r:id="rId6"/>
    <p:sldId id="301" r:id="rId7"/>
    <p:sldId id="302" r:id="rId8"/>
    <p:sldId id="298" r:id="rId9"/>
    <p:sldId id="299" r:id="rId10"/>
    <p:sldId id="304" r:id="rId11"/>
    <p:sldId id="307" r:id="rId12"/>
    <p:sldId id="308" r:id="rId13"/>
    <p:sldId id="309" r:id="rId14"/>
    <p:sldId id="310" r:id="rId15"/>
    <p:sldId id="313" r:id="rId16"/>
    <p:sldId id="314" r:id="rId17"/>
    <p:sldId id="276"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B09BA2-AC68-4549-851D-1E4FFC53305E}" v="145" dt="2025-11-10T15:31:32.1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79CDA2-A34F-46A8-9452-A6CEA8B0267B}" type="datetimeFigureOut">
              <a:rPr lang="en-US" smtClean="0"/>
              <a:t>11/11/2025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40006-C8E3-4A7A-A51F-A292903F2A55}" type="slidenum">
              <a:rPr lang="en-US" smtClean="0"/>
              <a:t>‹#›</a:t>
            </a:fld>
            <a:endParaRPr lang="en-US"/>
          </a:p>
        </p:txBody>
      </p:sp>
    </p:spTree>
    <p:extLst>
      <p:ext uri="{BB962C8B-B14F-4D97-AF65-F5344CB8AC3E}">
        <p14:creationId xmlns:p14="http://schemas.microsoft.com/office/powerpoint/2010/main" val="1207511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0230A-9FA9-0B88-59CD-C70BD2B54D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3FCB135E-2EE0-7F48-B39F-0BA0DF528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8D4E1B16-787C-720F-CD12-707F1A5942DA}"/>
              </a:ext>
            </a:extLst>
          </p:cNvPr>
          <p:cNvSpPr>
            <a:spLocks noGrp="1"/>
          </p:cNvSpPr>
          <p:nvPr>
            <p:ph type="dt" sz="half" idx="10"/>
          </p:nvPr>
        </p:nvSpPr>
        <p:spPr/>
        <p:txBody>
          <a:bodyPr/>
          <a:lstStyle/>
          <a:p>
            <a:fld id="{20B34E3F-2DEC-47F7-A0A9-068298D7C46D}" type="datetime1">
              <a:rPr lang="en-AE" smtClean="0"/>
              <a:t>11/11/2025</a:t>
            </a:fld>
            <a:endParaRPr lang="en-AE"/>
          </a:p>
        </p:txBody>
      </p:sp>
      <p:sp>
        <p:nvSpPr>
          <p:cNvPr id="5" name="Footer Placeholder 4">
            <a:extLst>
              <a:ext uri="{FF2B5EF4-FFF2-40B4-BE49-F238E27FC236}">
                <a16:creationId xmlns:a16="http://schemas.microsoft.com/office/drawing/2014/main" id="{827CF665-BE35-EE11-37F3-C3D452148C4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040298DD-A561-7CAC-955B-A1B677BEB55E}"/>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2905448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BFEDC-BE76-9363-141A-64EACFFB3483}"/>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47B01B7B-EFAA-A274-43F8-965F96F2E3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D6428F0-0399-2DFF-9551-D18653D34FFC}"/>
              </a:ext>
            </a:extLst>
          </p:cNvPr>
          <p:cNvSpPr>
            <a:spLocks noGrp="1"/>
          </p:cNvSpPr>
          <p:nvPr>
            <p:ph type="dt" sz="half" idx="10"/>
          </p:nvPr>
        </p:nvSpPr>
        <p:spPr/>
        <p:txBody>
          <a:bodyPr/>
          <a:lstStyle/>
          <a:p>
            <a:fld id="{BC7800CA-3923-423F-9D71-0F205F19D256}" type="datetime1">
              <a:rPr lang="en-AE" smtClean="0"/>
              <a:t>11/11/2025</a:t>
            </a:fld>
            <a:endParaRPr lang="en-AE"/>
          </a:p>
        </p:txBody>
      </p:sp>
      <p:sp>
        <p:nvSpPr>
          <p:cNvPr id="5" name="Footer Placeholder 4">
            <a:extLst>
              <a:ext uri="{FF2B5EF4-FFF2-40B4-BE49-F238E27FC236}">
                <a16:creationId xmlns:a16="http://schemas.microsoft.com/office/drawing/2014/main" id="{1D28B303-09D0-EBCF-4B96-2540EFA15D2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5E588B12-1041-6B36-B46C-74930B1C3480}"/>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1582012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EA9D6-BF9B-E205-2F89-4C8DDD8A06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FA552738-38D1-3443-47AA-741A7C5C7E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017E87-340E-45D4-C9C5-1423B4725AE8}"/>
              </a:ext>
            </a:extLst>
          </p:cNvPr>
          <p:cNvSpPr>
            <a:spLocks noGrp="1"/>
          </p:cNvSpPr>
          <p:nvPr>
            <p:ph type="dt" sz="half" idx="10"/>
          </p:nvPr>
        </p:nvSpPr>
        <p:spPr/>
        <p:txBody>
          <a:bodyPr/>
          <a:lstStyle/>
          <a:p>
            <a:fld id="{10A267D8-CE34-447C-A6AA-E18CDEC3E890}" type="datetime1">
              <a:rPr lang="en-AE" smtClean="0"/>
              <a:t>11/11/2025</a:t>
            </a:fld>
            <a:endParaRPr lang="en-AE"/>
          </a:p>
        </p:txBody>
      </p:sp>
      <p:sp>
        <p:nvSpPr>
          <p:cNvPr id="5" name="Footer Placeholder 4">
            <a:extLst>
              <a:ext uri="{FF2B5EF4-FFF2-40B4-BE49-F238E27FC236}">
                <a16:creationId xmlns:a16="http://schemas.microsoft.com/office/drawing/2014/main" id="{F0FEC807-A7F2-B808-E500-F8146C5E25F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00F117A-3567-DD13-04D1-E5B55ACA9075}"/>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57322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98B5A-B8BD-1121-23CA-BBF250EB628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2DC4297A-EB5C-B21D-E035-DCF4B97327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F4F007FE-3CE4-7D74-A92A-BA1B14C2F1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1B375206-0D0C-2810-5AAB-B15020CF1EFA}"/>
              </a:ext>
            </a:extLst>
          </p:cNvPr>
          <p:cNvSpPr>
            <a:spLocks noGrp="1"/>
          </p:cNvSpPr>
          <p:nvPr>
            <p:ph type="dt" sz="half" idx="10"/>
          </p:nvPr>
        </p:nvSpPr>
        <p:spPr/>
        <p:txBody>
          <a:bodyPr/>
          <a:lstStyle/>
          <a:p>
            <a:fld id="{3DB302D3-3ECC-4117-BC2F-1C7E850A6157}" type="datetime1">
              <a:rPr lang="en-AE" smtClean="0"/>
              <a:t>11/11/2025</a:t>
            </a:fld>
            <a:endParaRPr lang="en-AE"/>
          </a:p>
        </p:txBody>
      </p:sp>
      <p:sp>
        <p:nvSpPr>
          <p:cNvPr id="6" name="Footer Placeholder 5">
            <a:extLst>
              <a:ext uri="{FF2B5EF4-FFF2-40B4-BE49-F238E27FC236}">
                <a16:creationId xmlns:a16="http://schemas.microsoft.com/office/drawing/2014/main" id="{81912DC7-860A-12FD-40DA-04A6EDA5E5C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090ED6FC-F0FE-0F8D-5DDC-A1999217ECA5}"/>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2481220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062F-493B-F9AC-C785-FC7AF6DFBF24}"/>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9496795C-E803-7CB2-2B13-A7F35E37DA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E07BB-2FA3-4D38-CF49-E9094270D0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BDCE8D52-5F5E-7363-7421-6035E1EB72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A4E733-9226-B8E7-B809-5C1228087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4F263CB3-0423-43F8-BC89-8D50951755F6}"/>
              </a:ext>
            </a:extLst>
          </p:cNvPr>
          <p:cNvSpPr>
            <a:spLocks noGrp="1"/>
          </p:cNvSpPr>
          <p:nvPr>
            <p:ph type="dt" sz="half" idx="10"/>
          </p:nvPr>
        </p:nvSpPr>
        <p:spPr/>
        <p:txBody>
          <a:bodyPr/>
          <a:lstStyle/>
          <a:p>
            <a:fld id="{35115BB9-DA18-4150-B8A8-07A599B467ED}" type="datetime1">
              <a:rPr lang="en-AE" smtClean="0"/>
              <a:t>11/11/2025</a:t>
            </a:fld>
            <a:endParaRPr lang="en-AE"/>
          </a:p>
        </p:txBody>
      </p:sp>
      <p:sp>
        <p:nvSpPr>
          <p:cNvPr id="8" name="Footer Placeholder 7">
            <a:extLst>
              <a:ext uri="{FF2B5EF4-FFF2-40B4-BE49-F238E27FC236}">
                <a16:creationId xmlns:a16="http://schemas.microsoft.com/office/drawing/2014/main" id="{F7B3E803-C3A6-E6A1-C437-BE32D4F10226}"/>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C28FF3AE-98ED-FA19-96D4-466C9BF9D9F0}"/>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218924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88AB-4330-7997-92E8-0F4F05F0A5AF}"/>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574CCB49-A628-1F3F-1A79-6E196B5677B4}"/>
              </a:ext>
            </a:extLst>
          </p:cNvPr>
          <p:cNvSpPr>
            <a:spLocks noGrp="1"/>
          </p:cNvSpPr>
          <p:nvPr>
            <p:ph type="dt" sz="half" idx="10"/>
          </p:nvPr>
        </p:nvSpPr>
        <p:spPr/>
        <p:txBody>
          <a:bodyPr/>
          <a:lstStyle/>
          <a:p>
            <a:fld id="{110B558C-7E5E-451E-89CA-210D976D70FE}" type="datetime1">
              <a:rPr lang="en-AE" smtClean="0"/>
              <a:t>11/11/2025</a:t>
            </a:fld>
            <a:endParaRPr lang="en-AE"/>
          </a:p>
        </p:txBody>
      </p:sp>
      <p:sp>
        <p:nvSpPr>
          <p:cNvPr id="4" name="Footer Placeholder 3">
            <a:extLst>
              <a:ext uri="{FF2B5EF4-FFF2-40B4-BE49-F238E27FC236}">
                <a16:creationId xmlns:a16="http://schemas.microsoft.com/office/drawing/2014/main" id="{BD7F7659-1C08-C5A7-3EEA-5AD2638C0EF9}"/>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CC4CEC54-CE69-E2E6-1FC6-B6DEE9784033}"/>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2830697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923568-8327-ACFA-4046-D6B0EB8278F9}"/>
              </a:ext>
            </a:extLst>
          </p:cNvPr>
          <p:cNvSpPr>
            <a:spLocks noGrp="1"/>
          </p:cNvSpPr>
          <p:nvPr>
            <p:ph type="dt" sz="half" idx="10"/>
          </p:nvPr>
        </p:nvSpPr>
        <p:spPr/>
        <p:txBody>
          <a:bodyPr/>
          <a:lstStyle/>
          <a:p>
            <a:fld id="{9FCA4152-F2AC-4B0C-9205-80494716A874}" type="datetime1">
              <a:rPr lang="en-AE" smtClean="0"/>
              <a:t>11/11/2025</a:t>
            </a:fld>
            <a:endParaRPr lang="en-AE"/>
          </a:p>
        </p:txBody>
      </p:sp>
      <p:sp>
        <p:nvSpPr>
          <p:cNvPr id="3" name="Footer Placeholder 2">
            <a:extLst>
              <a:ext uri="{FF2B5EF4-FFF2-40B4-BE49-F238E27FC236}">
                <a16:creationId xmlns:a16="http://schemas.microsoft.com/office/drawing/2014/main" id="{EA415BC8-62D6-5616-A11A-C6F43E7C3091}"/>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A6A7E6E0-706C-8E6D-1712-46B699FD2ABF}"/>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242874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D1F6-2DB8-E468-ACA7-D3FBA0BE4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18EBAE8E-B09D-33BC-1A7C-4334E350D7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19E5C8A5-DE72-D89F-B76F-C28B2F9951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132390-EACE-FD78-E002-1CE7F21E32C3}"/>
              </a:ext>
            </a:extLst>
          </p:cNvPr>
          <p:cNvSpPr>
            <a:spLocks noGrp="1"/>
          </p:cNvSpPr>
          <p:nvPr>
            <p:ph type="dt" sz="half" idx="10"/>
          </p:nvPr>
        </p:nvSpPr>
        <p:spPr/>
        <p:txBody>
          <a:bodyPr/>
          <a:lstStyle/>
          <a:p>
            <a:fld id="{C3AF1558-A1B0-4DF3-B9D2-6475C8CCB3ED}" type="datetime1">
              <a:rPr lang="en-AE" smtClean="0"/>
              <a:t>11/11/2025</a:t>
            </a:fld>
            <a:endParaRPr lang="en-AE"/>
          </a:p>
        </p:txBody>
      </p:sp>
      <p:sp>
        <p:nvSpPr>
          <p:cNvPr id="6" name="Footer Placeholder 5">
            <a:extLst>
              <a:ext uri="{FF2B5EF4-FFF2-40B4-BE49-F238E27FC236}">
                <a16:creationId xmlns:a16="http://schemas.microsoft.com/office/drawing/2014/main" id="{12F50C5E-4A57-DAA5-620F-9F3ACB646ED6}"/>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9FB5A8C9-E5B3-C314-C214-85006E1DAE25}"/>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3791987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132F-E297-FC60-9D23-5912372842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4A6458C8-3FAD-71A0-2B3B-3A163AB444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DA577E9B-611F-B6F1-557F-22FEDE3AE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B88D5F-0489-E898-B2A7-910618670B20}"/>
              </a:ext>
            </a:extLst>
          </p:cNvPr>
          <p:cNvSpPr>
            <a:spLocks noGrp="1"/>
          </p:cNvSpPr>
          <p:nvPr>
            <p:ph type="dt" sz="half" idx="10"/>
          </p:nvPr>
        </p:nvSpPr>
        <p:spPr/>
        <p:txBody>
          <a:bodyPr/>
          <a:lstStyle/>
          <a:p>
            <a:fld id="{64170E44-BD02-4F58-AD87-3494E7F3398E}" type="datetime1">
              <a:rPr lang="en-AE" smtClean="0"/>
              <a:t>11/11/2025</a:t>
            </a:fld>
            <a:endParaRPr lang="en-AE"/>
          </a:p>
        </p:txBody>
      </p:sp>
      <p:sp>
        <p:nvSpPr>
          <p:cNvPr id="6" name="Footer Placeholder 5">
            <a:extLst>
              <a:ext uri="{FF2B5EF4-FFF2-40B4-BE49-F238E27FC236}">
                <a16:creationId xmlns:a16="http://schemas.microsoft.com/office/drawing/2014/main" id="{9A575698-B979-84A0-8E00-DB27DAF80F8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B6573C19-836D-5B27-B95A-842C7FBDD015}"/>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404739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24B74-E47A-3C42-5D51-E794794ACA9D}"/>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060D1D7C-BAD2-D7ED-F7AD-95F8108686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5D9E50C-68AC-7803-8508-DF00BD3A4004}"/>
              </a:ext>
            </a:extLst>
          </p:cNvPr>
          <p:cNvSpPr>
            <a:spLocks noGrp="1"/>
          </p:cNvSpPr>
          <p:nvPr>
            <p:ph type="dt" sz="half" idx="10"/>
          </p:nvPr>
        </p:nvSpPr>
        <p:spPr/>
        <p:txBody>
          <a:bodyPr/>
          <a:lstStyle/>
          <a:p>
            <a:fld id="{0AF00F84-75D0-4A04-B5D1-D52BDF820891}" type="datetime1">
              <a:rPr lang="en-AE" smtClean="0"/>
              <a:t>11/11/2025</a:t>
            </a:fld>
            <a:endParaRPr lang="en-AE"/>
          </a:p>
        </p:txBody>
      </p:sp>
      <p:sp>
        <p:nvSpPr>
          <p:cNvPr id="5" name="Footer Placeholder 4">
            <a:extLst>
              <a:ext uri="{FF2B5EF4-FFF2-40B4-BE49-F238E27FC236}">
                <a16:creationId xmlns:a16="http://schemas.microsoft.com/office/drawing/2014/main" id="{1775E49F-AFF6-D464-6CA7-6E29F315628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9DBC5BA1-F912-7CBE-CA9E-553194765F66}"/>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2817124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090CE4-1C9F-F31A-4B11-54829E21C3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7BEC0654-3426-0C67-3259-67B9ED6D3F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51B0AC0A-0BAB-720B-479B-90165783CDAB}"/>
              </a:ext>
            </a:extLst>
          </p:cNvPr>
          <p:cNvSpPr>
            <a:spLocks noGrp="1"/>
          </p:cNvSpPr>
          <p:nvPr>
            <p:ph type="dt" sz="half" idx="10"/>
          </p:nvPr>
        </p:nvSpPr>
        <p:spPr/>
        <p:txBody>
          <a:bodyPr/>
          <a:lstStyle/>
          <a:p>
            <a:fld id="{21975438-3262-406E-BB2E-B9141B5AD342}" type="datetime1">
              <a:rPr lang="en-AE" smtClean="0"/>
              <a:t>11/11/2025</a:t>
            </a:fld>
            <a:endParaRPr lang="en-AE"/>
          </a:p>
        </p:txBody>
      </p:sp>
      <p:sp>
        <p:nvSpPr>
          <p:cNvPr id="5" name="Footer Placeholder 4">
            <a:extLst>
              <a:ext uri="{FF2B5EF4-FFF2-40B4-BE49-F238E27FC236}">
                <a16:creationId xmlns:a16="http://schemas.microsoft.com/office/drawing/2014/main" id="{E68EBE85-C219-8BED-D7DE-64CA21A35B16}"/>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C970CE25-8BF5-1EA8-14D4-718F8C45FE1B}"/>
              </a:ext>
            </a:extLst>
          </p:cNvPr>
          <p:cNvSpPr>
            <a:spLocks noGrp="1"/>
          </p:cNvSpPr>
          <p:nvPr>
            <p:ph type="sldNum" sz="quarter" idx="12"/>
          </p:nvPr>
        </p:nvSpPr>
        <p:spPr/>
        <p:txBody>
          <a:bodyPr/>
          <a:lstStyle/>
          <a:p>
            <a:fld id="{47EAD358-37BE-4FE3-9163-1C89D475336D}" type="slidenum">
              <a:rPr lang="en-AE" smtClean="0"/>
              <a:t>‹#›</a:t>
            </a:fld>
            <a:endParaRPr lang="en-AE"/>
          </a:p>
        </p:txBody>
      </p:sp>
    </p:spTree>
    <p:extLst>
      <p:ext uri="{BB962C8B-B14F-4D97-AF65-F5344CB8AC3E}">
        <p14:creationId xmlns:p14="http://schemas.microsoft.com/office/powerpoint/2010/main" val="595929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BB1439-6221-5697-A19A-3C0F5FD7B9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925D1F4E-2BD2-D7F4-AC8E-450D3215C0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1EF3168E-6D01-64B6-46C8-7D549659E0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ABC0E4-D8E5-420A-8748-135220248875}" type="datetime1">
              <a:rPr lang="en-AE" smtClean="0"/>
              <a:t>11/11/2025</a:t>
            </a:fld>
            <a:endParaRPr lang="en-AE"/>
          </a:p>
        </p:txBody>
      </p:sp>
      <p:sp>
        <p:nvSpPr>
          <p:cNvPr id="5" name="Footer Placeholder 4">
            <a:extLst>
              <a:ext uri="{FF2B5EF4-FFF2-40B4-BE49-F238E27FC236}">
                <a16:creationId xmlns:a16="http://schemas.microsoft.com/office/drawing/2014/main" id="{CFB91BBE-C757-CADF-B5AF-58EEB9CF4B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24114A5F-4C25-BF56-2AF6-7073BBA80A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EAD358-37BE-4FE3-9163-1C89D475336D}" type="slidenum">
              <a:rPr lang="en-AE" smtClean="0"/>
              <a:t>‹#›</a:t>
            </a:fld>
            <a:endParaRPr lang="en-AE"/>
          </a:p>
        </p:txBody>
      </p:sp>
    </p:spTree>
    <p:extLst>
      <p:ext uri="{BB962C8B-B14F-4D97-AF65-F5344CB8AC3E}">
        <p14:creationId xmlns:p14="http://schemas.microsoft.com/office/powerpoint/2010/main" val="81707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txBox="1"/>
          <p:nvPr/>
        </p:nvSpPr>
        <p:spPr>
          <a:xfrm>
            <a:off x="96720" y="1135369"/>
            <a:ext cx="11612788" cy="2690160"/>
          </a:xfrm>
          <a:prstGeom prst="rect">
            <a:avLst/>
          </a:prstGeom>
        </p:spPr>
        <p:txBody>
          <a:bodyPr wrap="square" lIns="0" tIns="0" rIns="0" bIns="0" rtlCol="0" anchor="t">
            <a:spAutoFit/>
          </a:bodyPr>
          <a:lstStyle/>
          <a:p>
            <a:pPr algn="ctr">
              <a:lnSpc>
                <a:spcPts val="7242"/>
              </a:lnSpc>
            </a:pPr>
            <a:r>
              <a:rPr lang="vi-VN" sz="5172" b="1" noProof="1">
                <a:latin typeface="Arial" panose="020B0604020202020204" pitchFamily="34" charset="0"/>
                <a:ea typeface="Century Gothic Paneuropean Bold"/>
                <a:cs typeface="Arial" panose="020B0604020202020204" pitchFamily="34" charset="0"/>
                <a:sym typeface="Century Gothic Paneuropean Bold"/>
              </a:rPr>
              <a:t>GetX  </a:t>
            </a:r>
          </a:p>
          <a:p>
            <a:pPr algn="ctr">
              <a:lnSpc>
                <a:spcPts val="7242"/>
              </a:lnSpc>
            </a:pPr>
            <a:r>
              <a:rPr lang="vi-VN" sz="5172" b="1" noProof="1">
                <a:latin typeface="Arial" panose="020B0604020202020204" pitchFamily="34" charset="0"/>
                <a:ea typeface="Century Gothic Paneuropean Bold"/>
                <a:cs typeface="Arial" panose="020B0604020202020204" pitchFamily="34" charset="0"/>
                <a:sym typeface="Century Gothic Paneuropean Bold"/>
              </a:rPr>
              <a:t>State Management và Navigation​</a:t>
            </a:r>
          </a:p>
          <a:p>
            <a:pPr algn="ctr">
              <a:lnSpc>
                <a:spcPts val="7242"/>
              </a:lnSpc>
            </a:pPr>
            <a:r>
              <a:rPr lang="vi-VN" sz="5172" b="1" noProof="1">
                <a:latin typeface="Arial" panose="020B0604020202020204" pitchFamily="34" charset="0"/>
                <a:ea typeface="Century Gothic Paneuropean Bold"/>
                <a:cs typeface="Arial" panose="020B0604020202020204" pitchFamily="34" charset="0"/>
                <a:sym typeface="Century Gothic Paneuropean Bold"/>
              </a:rPr>
              <a:t>​</a:t>
            </a:r>
          </a:p>
        </p:txBody>
      </p:sp>
      <p:grpSp>
        <p:nvGrpSpPr>
          <p:cNvPr id="11" name="Group 11"/>
          <p:cNvGrpSpPr/>
          <p:nvPr/>
        </p:nvGrpSpPr>
        <p:grpSpPr>
          <a:xfrm>
            <a:off x="11948774" y="5685748"/>
            <a:ext cx="486453" cy="48645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13" name="TextBox 13"/>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19" name="TextBox 19"/>
          <p:cNvSpPr txBox="1"/>
          <p:nvPr/>
        </p:nvSpPr>
        <p:spPr>
          <a:xfrm>
            <a:off x="5094559" y="4482566"/>
            <a:ext cx="2002881" cy="410625"/>
          </a:xfrm>
          <a:prstGeom prst="rect">
            <a:avLst/>
          </a:prstGeom>
        </p:spPr>
        <p:txBody>
          <a:bodyPr wrap="square" lIns="0" tIns="0" rIns="0" bIns="0" rtlCol="0" anchor="t">
            <a:spAutoFit/>
          </a:bodyPr>
          <a:lstStyle/>
          <a:p>
            <a:pPr algn="ctr">
              <a:lnSpc>
                <a:spcPts val="3546"/>
              </a:lnSpc>
              <a:spcBef>
                <a:spcPct val="0"/>
              </a:spcBef>
            </a:pPr>
            <a:r>
              <a:rPr lang="vi-VN" sz="2533" b="1" noProof="1">
                <a:latin typeface="Canva Sans Bold"/>
                <a:ea typeface="Canva Sans Bold"/>
                <a:cs typeface="Canva Sans Bold"/>
                <a:sym typeface="Canva Sans Bold"/>
              </a:rPr>
              <a:t>Thành viên</a:t>
            </a:r>
          </a:p>
        </p:txBody>
      </p:sp>
      <p:pic>
        <p:nvPicPr>
          <p:cNvPr id="20" name="Picture 2" descr="KHOA ĐIỆN TỬ VIỄN THÔNG">
            <a:extLst>
              <a:ext uri="{FF2B5EF4-FFF2-40B4-BE49-F238E27FC236}">
                <a16:creationId xmlns:a16="http://schemas.microsoft.com/office/drawing/2014/main" id="{63E2F22F-7380-50D2-A02B-0F667AB18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192" y="175209"/>
            <a:ext cx="1264489" cy="126448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2F0A76F-3D59-7454-DBFC-0912CF8B6EFF}"/>
              </a:ext>
            </a:extLst>
          </p:cNvPr>
          <p:cNvSpPr txBox="1"/>
          <p:nvPr/>
        </p:nvSpPr>
        <p:spPr>
          <a:xfrm>
            <a:off x="4028147" y="5200055"/>
            <a:ext cx="5320687" cy="748795"/>
          </a:xfrm>
          <a:prstGeom prst="rect">
            <a:avLst/>
          </a:prstGeom>
          <a:noFill/>
        </p:spPr>
        <p:txBody>
          <a:bodyPr wrap="none" rtlCol="0">
            <a:spAutoFit/>
          </a:bodyPr>
          <a:lstStyle/>
          <a:p>
            <a:r>
              <a:rPr lang="vi-VN" sz="2133" b="1" noProof="1"/>
              <a:t>01. LÊ DUY TÂN		– 22KTMT2</a:t>
            </a:r>
          </a:p>
          <a:p>
            <a:r>
              <a:rPr lang="vi-VN" sz="2133" b="1" noProof="1"/>
              <a:t>02. VÕ HOÀNG ANH VIN 	– 22KTMT2</a:t>
            </a:r>
          </a:p>
        </p:txBody>
      </p:sp>
      <p:sp>
        <p:nvSpPr>
          <p:cNvPr id="3" name="Chỗ dành sẵn cho Số hiệu Bản chiếu 2">
            <a:extLst>
              <a:ext uri="{FF2B5EF4-FFF2-40B4-BE49-F238E27FC236}">
                <a16:creationId xmlns:a16="http://schemas.microsoft.com/office/drawing/2014/main" id="{E7ADB673-B6DA-CBC1-5CBA-1555B1F8C3D1}"/>
              </a:ext>
            </a:extLst>
          </p:cNvPr>
          <p:cNvSpPr>
            <a:spLocks noGrp="1"/>
          </p:cNvSpPr>
          <p:nvPr>
            <p:ph type="sldNum" sz="quarter" idx="12"/>
          </p:nvPr>
        </p:nvSpPr>
        <p:spPr/>
        <p:txBody>
          <a:bodyPr/>
          <a:lstStyle/>
          <a:p>
            <a:fld id="{47EAD358-37BE-4FE3-9163-1C89D475336D}" type="slidenum">
              <a:rPr lang="en-AE" smtClean="0"/>
              <a:t>1</a:t>
            </a:fld>
            <a:endParaRPr lang="en-A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4130D1B-0DD0-A985-3F75-310702954BFE}"/>
              </a:ext>
            </a:extLst>
          </p:cNvPr>
          <p:cNvGraphicFramePr>
            <a:graphicFrameLocks noGrp="1"/>
          </p:cNvGraphicFramePr>
          <p:nvPr>
            <p:extLst>
              <p:ext uri="{D42A27DB-BD31-4B8C-83A1-F6EECF244321}">
                <p14:modId xmlns:p14="http://schemas.microsoft.com/office/powerpoint/2010/main" val="3773748765"/>
              </p:ext>
            </p:extLst>
          </p:nvPr>
        </p:nvGraphicFramePr>
        <p:xfrm>
          <a:off x="1229032" y="1372369"/>
          <a:ext cx="9733935" cy="5113581"/>
        </p:xfrm>
        <a:graphic>
          <a:graphicData uri="http://schemas.openxmlformats.org/drawingml/2006/table">
            <a:tbl>
              <a:tblPr/>
              <a:tblGrid>
                <a:gridCol w="944697">
                  <a:extLst>
                    <a:ext uri="{9D8B030D-6E8A-4147-A177-3AD203B41FA5}">
                      <a16:colId xmlns:a16="http://schemas.microsoft.com/office/drawing/2014/main" val="1942041451"/>
                    </a:ext>
                  </a:extLst>
                </a:gridCol>
                <a:gridCol w="3315520">
                  <a:extLst>
                    <a:ext uri="{9D8B030D-6E8A-4147-A177-3AD203B41FA5}">
                      <a16:colId xmlns:a16="http://schemas.microsoft.com/office/drawing/2014/main" val="3285386608"/>
                    </a:ext>
                  </a:extLst>
                </a:gridCol>
                <a:gridCol w="3812068">
                  <a:extLst>
                    <a:ext uri="{9D8B030D-6E8A-4147-A177-3AD203B41FA5}">
                      <a16:colId xmlns:a16="http://schemas.microsoft.com/office/drawing/2014/main" val="1653262983"/>
                    </a:ext>
                  </a:extLst>
                </a:gridCol>
                <a:gridCol w="1661650">
                  <a:extLst>
                    <a:ext uri="{9D8B030D-6E8A-4147-A177-3AD203B41FA5}">
                      <a16:colId xmlns:a16="http://schemas.microsoft.com/office/drawing/2014/main" val="86336778"/>
                    </a:ext>
                  </a:extLst>
                </a:gridCol>
              </a:tblGrid>
              <a:tr h="1199154">
                <a:tc>
                  <a:txBody>
                    <a:bodyPr/>
                    <a:lstStyle/>
                    <a:p>
                      <a:pPr algn="ctr" fontAlgn="base">
                        <a:lnSpc>
                          <a:spcPts val="1500"/>
                        </a:lnSpc>
                        <a:buNone/>
                      </a:pPr>
                      <a:r>
                        <a:rPr lang="vi-VN" sz="1400" b="1" i="0" noProof="1">
                          <a:solidFill>
                            <a:srgbClr val="FFFFFF"/>
                          </a:solidFill>
                          <a:effectLst/>
                          <a:latin typeface="Arial" panose="020B0604020202020204" pitchFamily="34" charset="0"/>
                        </a:rPr>
                        <a:t>STT​</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1500"/>
                        </a:lnSpc>
                        <a:buNone/>
                      </a:pPr>
                      <a:r>
                        <a:rPr lang="vi-VN" sz="1400" b="1" i="0" noProof="1">
                          <a:solidFill>
                            <a:srgbClr val="FFFFFF"/>
                          </a:solidFill>
                          <a:effectLst/>
                          <a:latin typeface="Arial" panose="020B0604020202020204" pitchFamily="34" charset="0"/>
                        </a:rPr>
                        <a:t>HỌ VÀ TÊN​</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1500"/>
                        </a:lnSpc>
                        <a:buNone/>
                      </a:pPr>
                      <a:r>
                        <a:rPr lang="vi-VN" sz="1400" b="1" i="0" noProof="1">
                          <a:solidFill>
                            <a:srgbClr val="FFFFFF"/>
                          </a:solidFill>
                          <a:effectLst/>
                          <a:latin typeface="Arial" panose="020B0604020202020204" pitchFamily="34" charset="0"/>
                        </a:rPr>
                        <a:t>NHIỆM VỤ​</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1500"/>
                        </a:lnSpc>
                        <a:buNone/>
                      </a:pPr>
                      <a:r>
                        <a:rPr lang="vi-VN" sz="1400" b="1" i="0" noProof="1">
                          <a:solidFill>
                            <a:srgbClr val="FFFFFF"/>
                          </a:solidFill>
                          <a:effectLst/>
                          <a:latin typeface="Arial" panose="020B0604020202020204" pitchFamily="34" charset="0"/>
                        </a:rPr>
                        <a:t>KHỐI LƯỢNG​</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2623563237"/>
                  </a:ext>
                </a:extLst>
              </a:tr>
              <a:tr h="1584043">
                <a:tc>
                  <a:txBody>
                    <a:bodyPr/>
                    <a:lstStyle/>
                    <a:p>
                      <a:pPr algn="ctr" fontAlgn="base">
                        <a:lnSpc>
                          <a:spcPts val="1575"/>
                        </a:lnSpc>
                        <a:buNone/>
                      </a:pPr>
                      <a:r>
                        <a:rPr lang="vi-VN" sz="1400" b="1" i="0" noProof="1">
                          <a:solidFill>
                            <a:srgbClr val="FFFFFF"/>
                          </a:solidFill>
                          <a:effectLst/>
                          <a:latin typeface="Arial" panose="020B0604020202020204" pitchFamily="34" charset="0"/>
                        </a:rPr>
                        <a:t>01​</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1575"/>
                        </a:lnSpc>
                        <a:buNone/>
                      </a:pPr>
                      <a:r>
                        <a:rPr lang="vi-VN" sz="1400" b="0" i="0" noProof="1">
                          <a:solidFill>
                            <a:srgbClr val="000000"/>
                          </a:solidFill>
                          <a:effectLst/>
                          <a:latin typeface="Arial" panose="020B0604020202020204" pitchFamily="34" charset="0"/>
                        </a:rPr>
                        <a:t>VÕ HOÀNG ANH VIN​</a:t>
                      </a:r>
                      <a:endParaRPr lang="vi-VN" sz="1000" b="0" i="0" noProof="1">
                        <a:solidFill>
                          <a:srgbClr val="000000"/>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D0D8E8"/>
                    </a:solidFill>
                  </a:tcPr>
                </a:tc>
                <a:tc>
                  <a:txBody>
                    <a:bodyPr/>
                    <a:lstStyle/>
                    <a:p>
                      <a:pPr algn="ctr" fontAlgn="auto">
                        <a:lnSpc>
                          <a:spcPts val="2850"/>
                        </a:lnSpc>
                        <a:buNone/>
                      </a:pPr>
                      <a:r>
                        <a:rPr lang="vi-VN" sz="1400" b="0" i="0" noProof="1">
                          <a:solidFill>
                            <a:srgbClr val="000000"/>
                          </a:solidFill>
                          <a:effectLst/>
                          <a:latin typeface="Arial" panose="020B0604020202020204" pitchFamily="34" charset="0"/>
                        </a:rPr>
                        <a:t>​</a:t>
                      </a:r>
                    </a:p>
                    <a:p>
                      <a:pPr algn="ctr" fontAlgn="base">
                        <a:lnSpc>
                          <a:spcPts val="2850"/>
                        </a:lnSpc>
                        <a:buNone/>
                      </a:pPr>
                      <a:r>
                        <a:rPr lang="vi-VN" sz="1400" b="0" i="0" noProof="1">
                          <a:solidFill>
                            <a:srgbClr val="000000"/>
                          </a:solidFill>
                          <a:effectLst/>
                          <a:latin typeface="Arial" panose="020B0604020202020204" pitchFamily="34" charset="0"/>
                        </a:rPr>
                        <a:t>- GetxController và reactive programming​</a:t>
                      </a:r>
                      <a:endParaRPr lang="vi-VN" sz="1000" b="0" i="0" noProof="1">
                        <a:solidFill>
                          <a:srgbClr val="000000"/>
                        </a:solidFill>
                        <a:effectLst/>
                      </a:endParaRPr>
                    </a:p>
                    <a:p>
                      <a:pPr algn="ctr" fontAlgn="base">
                        <a:lnSpc>
                          <a:spcPts val="2850"/>
                        </a:lnSpc>
                        <a:buNone/>
                      </a:pPr>
                      <a:r>
                        <a:rPr lang="vi-VN" sz="1400" b="0" i="0" noProof="1">
                          <a:solidFill>
                            <a:srgbClr val="000000"/>
                          </a:solidFill>
                          <a:effectLst/>
                          <a:latin typeface="Arial" panose="020B0604020202020204" pitchFamily="34" charset="0"/>
                        </a:rPr>
                        <a:t>​</a:t>
                      </a:r>
                      <a:endParaRPr lang="vi-VN" sz="1000" b="0" i="0" noProof="1">
                        <a:solidFill>
                          <a:srgbClr val="000000"/>
                        </a:solidFill>
                        <a:effectLst/>
                      </a:endParaRPr>
                    </a:p>
                    <a:p>
                      <a:pPr algn="ctr" fontAlgn="base">
                        <a:lnSpc>
                          <a:spcPts val="2850"/>
                        </a:lnSpc>
                        <a:buNone/>
                      </a:pPr>
                      <a:r>
                        <a:rPr lang="vi-VN" sz="1400" b="0" i="0" noProof="1">
                          <a:solidFill>
                            <a:srgbClr val="000000"/>
                          </a:solidFill>
                          <a:effectLst/>
                          <a:latin typeface="Arial" panose="020B0604020202020204" pitchFamily="34" charset="0"/>
                        </a:rPr>
                        <a:t>  - Obx widget và dependency injection​</a:t>
                      </a:r>
                      <a:endParaRPr lang="vi-VN" sz="1000" b="0" i="0" noProof="1">
                        <a:solidFill>
                          <a:srgbClr val="000000"/>
                        </a:solidFill>
                        <a:effectLst/>
                      </a:endParaRPr>
                    </a:p>
                    <a:p>
                      <a:pPr algn="ctr" fontAlgn="base">
                        <a:lnSpc>
                          <a:spcPts val="2850"/>
                        </a:lnSpc>
                        <a:buNone/>
                      </a:pPr>
                      <a:r>
                        <a:rPr lang="vi-VN" sz="1400" b="0" i="0" noProof="1">
                          <a:solidFill>
                            <a:srgbClr val="000000"/>
                          </a:solidFill>
                          <a:effectLst/>
                          <a:latin typeface="Aptos" panose="020B0004020202020204" pitchFamily="34" charset="0"/>
                        </a:rPr>
                        <a:t>​</a:t>
                      </a:r>
                      <a:endParaRPr lang="vi-VN" sz="1000" b="0" i="0" noProof="1">
                        <a:solidFill>
                          <a:srgbClr val="000000"/>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D0D8E8"/>
                    </a:solidFill>
                  </a:tcPr>
                </a:tc>
                <a:tc>
                  <a:txBody>
                    <a:bodyPr/>
                    <a:lstStyle/>
                    <a:p>
                      <a:pPr algn="ctr" fontAlgn="base">
                        <a:lnSpc>
                          <a:spcPts val="1575"/>
                        </a:lnSpc>
                        <a:buNone/>
                      </a:pPr>
                      <a:r>
                        <a:rPr lang="vi-VN" sz="1400" b="1" i="0" noProof="1">
                          <a:solidFill>
                            <a:srgbClr val="FFFFFF"/>
                          </a:solidFill>
                          <a:effectLst/>
                          <a:latin typeface="Arial" panose="020B0604020202020204" pitchFamily="34" charset="0"/>
                        </a:rPr>
                        <a:t>50%​</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9449"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2258992955"/>
                  </a:ext>
                </a:extLst>
              </a:tr>
              <a:tr h="1722128">
                <a:tc>
                  <a:txBody>
                    <a:bodyPr/>
                    <a:lstStyle/>
                    <a:p>
                      <a:pPr algn="ctr" fontAlgn="base">
                        <a:lnSpc>
                          <a:spcPts val="1575"/>
                        </a:lnSpc>
                        <a:buNone/>
                      </a:pPr>
                      <a:r>
                        <a:rPr lang="vi-VN" sz="1400" b="1" i="0" noProof="1">
                          <a:solidFill>
                            <a:srgbClr val="FFFFFF"/>
                          </a:solidFill>
                          <a:effectLst/>
                          <a:latin typeface="Arial" panose="020B0604020202020204" pitchFamily="34" charset="0"/>
                        </a:rPr>
                        <a:t>02​</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1575"/>
                        </a:lnSpc>
                        <a:buNone/>
                      </a:pPr>
                      <a:r>
                        <a:rPr lang="vi-VN" sz="1400" b="1" i="0" noProof="1">
                          <a:solidFill>
                            <a:srgbClr val="EEECE1"/>
                          </a:solidFill>
                          <a:effectLst/>
                          <a:latin typeface="Arial" panose="020B0604020202020204" pitchFamily="34" charset="0"/>
                        </a:rPr>
                        <a:t>LÊ DUY TÂN</a:t>
                      </a:r>
                      <a:r>
                        <a:rPr lang="vi-VN" sz="1400" b="1" i="0" noProof="1">
                          <a:solidFill>
                            <a:srgbClr val="FFFFFF"/>
                          </a:solidFill>
                          <a:effectLst/>
                          <a:latin typeface="Arial" panose="020B0604020202020204" pitchFamily="34" charset="0"/>
                        </a:rPr>
                        <a:t>​</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2850"/>
                        </a:lnSpc>
                        <a:buNone/>
                      </a:pPr>
                      <a:r>
                        <a:rPr lang="vi-VN" sz="1400" b="1" i="0" noProof="1">
                          <a:solidFill>
                            <a:srgbClr val="EEECE1"/>
                          </a:solidFill>
                          <a:effectLst/>
                          <a:latin typeface="Arial" panose="020B0604020202020204" pitchFamily="34" charset="0"/>
                        </a:rPr>
                        <a:t>  </a:t>
                      </a:r>
                      <a:r>
                        <a:rPr lang="vi-VN" sz="1400" b="1" i="0" noProof="1">
                          <a:solidFill>
                            <a:srgbClr val="FFFFFF"/>
                          </a:solidFill>
                          <a:effectLst/>
                          <a:latin typeface="Arial" panose="020B0604020202020204" pitchFamily="34" charset="0"/>
                        </a:rPr>
                        <a:t>​</a:t>
                      </a:r>
                      <a:endParaRPr lang="vi-VN" sz="1000" b="1" i="0" noProof="1">
                        <a:solidFill>
                          <a:srgbClr val="FFFFFF"/>
                        </a:solidFill>
                        <a:effectLst/>
                      </a:endParaRPr>
                    </a:p>
                    <a:p>
                      <a:pPr algn="ctr" fontAlgn="base">
                        <a:lnSpc>
                          <a:spcPts val="2850"/>
                        </a:lnSpc>
                        <a:buNone/>
                      </a:pPr>
                      <a:r>
                        <a:rPr lang="vi-VN" sz="1400" b="1" i="0" noProof="1">
                          <a:solidFill>
                            <a:srgbClr val="EEECE1"/>
                          </a:solidFill>
                          <a:effectLst/>
                          <a:latin typeface="Arial" panose="020B0604020202020204" pitchFamily="34" charset="0"/>
                        </a:rPr>
                        <a:t> - GetX routing và navigation</a:t>
                      </a:r>
                      <a:r>
                        <a:rPr lang="vi-VN" sz="1400" b="1" i="0" noProof="1">
                          <a:solidFill>
                            <a:srgbClr val="FFFFFF"/>
                          </a:solidFill>
                          <a:effectLst/>
                          <a:latin typeface="Arial" panose="020B0604020202020204" pitchFamily="34" charset="0"/>
                        </a:rPr>
                        <a:t>​</a:t>
                      </a:r>
                      <a:endParaRPr lang="vi-VN" sz="1000" b="1" i="0" noProof="1">
                        <a:solidFill>
                          <a:srgbClr val="FFFFFF"/>
                        </a:solidFill>
                        <a:effectLst/>
                      </a:endParaRPr>
                    </a:p>
                    <a:p>
                      <a:pPr algn="ctr" fontAlgn="base">
                        <a:lnSpc>
                          <a:spcPts val="2850"/>
                        </a:lnSpc>
                        <a:buNone/>
                      </a:pPr>
                      <a:r>
                        <a:rPr lang="vi-VN" sz="1400" b="1" i="0" noProof="1">
                          <a:solidFill>
                            <a:srgbClr val="FFFFFF"/>
                          </a:solidFill>
                          <a:effectLst/>
                          <a:latin typeface="Arial" panose="020B0604020202020204" pitchFamily="34" charset="0"/>
                        </a:rPr>
                        <a:t>​</a:t>
                      </a:r>
                      <a:endParaRPr lang="vi-VN" sz="1000" b="1" i="0" noProof="1">
                        <a:solidFill>
                          <a:srgbClr val="FFFFFF"/>
                        </a:solidFill>
                        <a:effectLst/>
                      </a:endParaRPr>
                    </a:p>
                    <a:p>
                      <a:pPr algn="ctr" fontAlgn="base">
                        <a:lnSpc>
                          <a:spcPts val="2850"/>
                        </a:lnSpc>
                        <a:buNone/>
                      </a:pPr>
                      <a:r>
                        <a:rPr lang="vi-VN" sz="1400" b="1" i="0" noProof="1">
                          <a:solidFill>
                            <a:srgbClr val="EEECE1"/>
                          </a:solidFill>
                          <a:effectLst/>
                          <a:latin typeface="Arial" panose="020B0604020202020204" pitchFamily="34" charset="0"/>
                        </a:rPr>
                        <a:t>  - Performance benefits và use cases</a:t>
                      </a:r>
                      <a:r>
                        <a:rPr lang="vi-VN" sz="1400" b="1" i="0" noProof="1">
                          <a:solidFill>
                            <a:srgbClr val="FFFFFF"/>
                          </a:solidFill>
                          <a:effectLst/>
                          <a:latin typeface="Arial" panose="020B0604020202020204" pitchFamily="34" charset="0"/>
                        </a:rPr>
                        <a:t>​</a:t>
                      </a:r>
                      <a:endParaRPr lang="vi-VN" sz="1000" b="1" i="0" noProof="1">
                        <a:solidFill>
                          <a:srgbClr val="FFFFFF"/>
                        </a:solidFill>
                        <a:effectLst/>
                      </a:endParaRPr>
                    </a:p>
                    <a:p>
                      <a:pPr algn="ctr" fontAlgn="base">
                        <a:lnSpc>
                          <a:spcPts val="2850"/>
                        </a:lnSpc>
                        <a:buNone/>
                      </a:pPr>
                      <a:r>
                        <a:rPr lang="vi-VN" sz="1400" b="1" i="0" noProof="1">
                          <a:solidFill>
                            <a:srgbClr val="FFFFFF"/>
                          </a:solidFill>
                          <a:effectLst/>
                          <a:latin typeface="Arial" panose="020B0604020202020204" pitchFamily="34" charset="0"/>
                        </a:rPr>
                        <a:t>​</a:t>
                      </a:r>
                      <a:endParaRPr lang="vi-VN" sz="1000" b="1" i="0" noProof="1">
                        <a:solidFill>
                          <a:srgbClr val="FFFFFF"/>
                        </a:solidFill>
                        <a:effectLst/>
                      </a:endParaRPr>
                    </a:p>
                    <a:p>
                      <a:pPr algn="ctr" fontAlgn="base">
                        <a:lnSpc>
                          <a:spcPts val="1425"/>
                        </a:lnSpc>
                        <a:buNone/>
                      </a:pPr>
                      <a:r>
                        <a:rPr lang="vi-VN" sz="1400" b="1" i="0" noProof="1">
                          <a:solidFill>
                            <a:srgbClr val="FFFFFF"/>
                          </a:solidFill>
                          <a:effectLst/>
                          <a:latin typeface="Aptos" panose="020B0004020202020204" pitchFamily="34" charset="0"/>
                        </a:rPr>
                        <a:t>​</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F81BD"/>
                    </a:solidFill>
                  </a:tcPr>
                </a:tc>
                <a:tc>
                  <a:txBody>
                    <a:bodyPr/>
                    <a:lstStyle/>
                    <a:p>
                      <a:pPr algn="ctr" fontAlgn="base">
                        <a:lnSpc>
                          <a:spcPts val="1575"/>
                        </a:lnSpc>
                        <a:buNone/>
                      </a:pPr>
                      <a:r>
                        <a:rPr lang="vi-VN" sz="1400" b="1" i="0" noProof="1">
                          <a:solidFill>
                            <a:srgbClr val="FFFFFF"/>
                          </a:solidFill>
                          <a:effectLst/>
                          <a:latin typeface="Arial" panose="020B0604020202020204" pitchFamily="34" charset="0"/>
                        </a:rPr>
                        <a:t>50%​</a:t>
                      </a:r>
                      <a:endParaRPr lang="vi-VN" sz="1000" b="1" i="0" noProof="1">
                        <a:solidFill>
                          <a:srgbClr val="FFFFFF"/>
                        </a:solidFill>
                        <a:effectLst/>
                      </a:endParaRPr>
                    </a:p>
                  </a:txBody>
                  <a:tcPr marL="52627" marR="52627" marT="26313" marB="26313"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9449"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3833949209"/>
                  </a:ext>
                </a:extLst>
              </a:tr>
            </a:tbl>
          </a:graphicData>
        </a:graphic>
      </p:graphicFrame>
      <p:sp>
        <p:nvSpPr>
          <p:cNvPr id="8" name="TextBox 7">
            <a:extLst>
              <a:ext uri="{FF2B5EF4-FFF2-40B4-BE49-F238E27FC236}">
                <a16:creationId xmlns:a16="http://schemas.microsoft.com/office/drawing/2014/main" id="{28460405-5E3D-296F-120A-A77096C6AC4B}"/>
              </a:ext>
            </a:extLst>
          </p:cNvPr>
          <p:cNvSpPr txBox="1"/>
          <p:nvPr/>
        </p:nvSpPr>
        <p:spPr>
          <a:xfrm>
            <a:off x="3456038" y="362334"/>
            <a:ext cx="5279922" cy="715581"/>
          </a:xfrm>
          <a:prstGeom prst="rect">
            <a:avLst/>
          </a:prstGeom>
          <a:noFill/>
        </p:spPr>
        <p:txBody>
          <a:bodyPr wrap="square">
            <a:spAutoFit/>
          </a:bodyPr>
          <a:lstStyle/>
          <a:p>
            <a:r>
              <a:rPr lang="vi-VN" sz="4050" b="1" noProof="1">
                <a:latin typeface="Arial" panose="020B0604020202020204" pitchFamily="34" charset="0"/>
                <a:cs typeface="Arial" panose="020B0604020202020204" pitchFamily="34" charset="0"/>
              </a:rPr>
              <a:t>Phân công nhiệm vụ​</a:t>
            </a:r>
          </a:p>
        </p:txBody>
      </p:sp>
      <p:sp>
        <p:nvSpPr>
          <p:cNvPr id="3" name="Chỗ dành sẵn cho Số hiệu Bản chiếu 2">
            <a:extLst>
              <a:ext uri="{FF2B5EF4-FFF2-40B4-BE49-F238E27FC236}">
                <a16:creationId xmlns:a16="http://schemas.microsoft.com/office/drawing/2014/main" id="{A1043CBF-210B-0482-BAD8-3629985C45C1}"/>
              </a:ext>
            </a:extLst>
          </p:cNvPr>
          <p:cNvSpPr>
            <a:spLocks noGrp="1"/>
          </p:cNvSpPr>
          <p:nvPr>
            <p:ph type="sldNum" sz="quarter" idx="12"/>
          </p:nvPr>
        </p:nvSpPr>
        <p:spPr/>
        <p:txBody>
          <a:bodyPr/>
          <a:lstStyle/>
          <a:p>
            <a:fld id="{47EAD358-37BE-4FE3-9163-1C89D475336D}" type="slidenum">
              <a:rPr lang="en-AE" smtClean="0"/>
              <a:t>2</a:t>
            </a:fld>
            <a:endParaRPr lang="en-AE"/>
          </a:p>
        </p:txBody>
      </p:sp>
    </p:spTree>
    <p:extLst>
      <p:ext uri="{BB962C8B-B14F-4D97-AF65-F5344CB8AC3E}">
        <p14:creationId xmlns:p14="http://schemas.microsoft.com/office/powerpoint/2010/main" val="3398831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11948774" y="5685748"/>
            <a:ext cx="486453" cy="48645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16" name="TextBox 16"/>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2" name="TextBox 22"/>
          <p:cNvSpPr txBox="1"/>
          <p:nvPr/>
        </p:nvSpPr>
        <p:spPr>
          <a:xfrm>
            <a:off x="1270001" y="533401"/>
            <a:ext cx="3532175" cy="666401"/>
          </a:xfrm>
          <a:prstGeom prst="rect">
            <a:avLst/>
          </a:prstGeom>
        </p:spPr>
        <p:txBody>
          <a:bodyPr lIns="0" tIns="0" rIns="0" bIns="0" rtlCol="0" anchor="t">
            <a:spAutoFit/>
          </a:bodyPr>
          <a:lstStyle/>
          <a:p>
            <a:pP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Mục lục</a:t>
            </a:r>
          </a:p>
        </p:txBody>
      </p:sp>
      <p:grpSp>
        <p:nvGrpSpPr>
          <p:cNvPr id="23" name="Group 23"/>
          <p:cNvGrpSpPr/>
          <p:nvPr/>
        </p:nvGrpSpPr>
        <p:grpSpPr>
          <a:xfrm>
            <a:off x="1270001" y="1366850"/>
            <a:ext cx="653967" cy="66042"/>
            <a:chOff x="0" y="0"/>
            <a:chExt cx="258358" cy="26091"/>
          </a:xfrm>
        </p:grpSpPr>
        <p:sp>
          <p:nvSpPr>
            <p:cNvPr id="24" name="Freeform 24"/>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25" name="TextBox 25"/>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26" name="Group 26"/>
          <p:cNvGrpSpPr/>
          <p:nvPr/>
        </p:nvGrpSpPr>
        <p:grpSpPr>
          <a:xfrm>
            <a:off x="1952282" y="1366850"/>
            <a:ext cx="66042" cy="66042"/>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8" name="TextBox 28"/>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9" name="TextBox 29"/>
          <p:cNvSpPr txBox="1"/>
          <p:nvPr/>
        </p:nvSpPr>
        <p:spPr>
          <a:xfrm>
            <a:off x="2413209" y="1998619"/>
            <a:ext cx="2971591" cy="234103"/>
          </a:xfrm>
          <a:prstGeom prst="rect">
            <a:avLst/>
          </a:prstGeom>
        </p:spPr>
        <p:txBody>
          <a:bodyPr lIns="0" tIns="0" rIns="0" bIns="0" rtlCol="0" anchor="t">
            <a:spAutoFit/>
          </a:bodyPr>
          <a:lstStyle/>
          <a:p>
            <a:pPr>
              <a:lnSpc>
                <a:spcPts val="1680"/>
              </a:lnSpc>
              <a:spcBef>
                <a:spcPct val="0"/>
              </a:spcBef>
            </a:pPr>
            <a:r>
              <a:rPr lang="vi-VN" sz="2133" noProof="1">
                <a:latin typeface="Open Sans"/>
                <a:ea typeface="Open Sans"/>
                <a:cs typeface="Open Sans"/>
                <a:sym typeface="Open Sans"/>
              </a:rPr>
              <a:t>Giới thiệu về GetX</a:t>
            </a:r>
          </a:p>
        </p:txBody>
      </p:sp>
      <p:grpSp>
        <p:nvGrpSpPr>
          <p:cNvPr id="30" name="Group 30"/>
          <p:cNvGrpSpPr/>
          <p:nvPr/>
        </p:nvGrpSpPr>
        <p:grpSpPr>
          <a:xfrm>
            <a:off x="1261200" y="1693000"/>
            <a:ext cx="720000" cy="720000"/>
            <a:chOff x="-1" y="-1"/>
            <a:chExt cx="862158" cy="834449"/>
          </a:xfrm>
        </p:grpSpPr>
        <p:sp>
          <p:nvSpPr>
            <p:cNvPr id="31" name="Freeform 31"/>
            <p:cNvSpPr/>
            <p:nvPr/>
          </p:nvSpPr>
          <p:spPr>
            <a:xfrm>
              <a:off x="-1" y="-1"/>
              <a:ext cx="862158" cy="8344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32" name="TextBox 32"/>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33" name="TextBox 33"/>
          <p:cNvSpPr txBox="1"/>
          <p:nvPr/>
        </p:nvSpPr>
        <p:spPr>
          <a:xfrm>
            <a:off x="1489316" y="2034844"/>
            <a:ext cx="227132" cy="176395"/>
          </a:xfrm>
          <a:prstGeom prst="rect">
            <a:avLst/>
          </a:prstGeom>
        </p:spPr>
        <p:txBody>
          <a:bodyPr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I</a:t>
            </a:r>
          </a:p>
        </p:txBody>
      </p:sp>
      <p:pic>
        <p:nvPicPr>
          <p:cNvPr id="59" name="Picture 2" descr="KHOA ĐIỆN TỬ VIỄN THÔNG">
            <a:extLst>
              <a:ext uri="{FF2B5EF4-FFF2-40B4-BE49-F238E27FC236}">
                <a16:creationId xmlns:a16="http://schemas.microsoft.com/office/drawing/2014/main" id="{0C2F9569-0C54-B4BB-275D-BDB1A4FEB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70" name="TextBox 29">
            <a:extLst>
              <a:ext uri="{FF2B5EF4-FFF2-40B4-BE49-F238E27FC236}">
                <a16:creationId xmlns:a16="http://schemas.microsoft.com/office/drawing/2014/main" id="{03752F60-1E6D-A359-9B16-AC7CF72B3091}"/>
              </a:ext>
            </a:extLst>
          </p:cNvPr>
          <p:cNvSpPr txBox="1"/>
          <p:nvPr/>
        </p:nvSpPr>
        <p:spPr>
          <a:xfrm>
            <a:off x="2413209" y="2800665"/>
            <a:ext cx="5314946" cy="234103"/>
          </a:xfrm>
          <a:prstGeom prst="rect">
            <a:avLst/>
          </a:prstGeom>
        </p:spPr>
        <p:txBody>
          <a:bodyPr wrap="square" lIns="0" tIns="0" rIns="0" bIns="0" rtlCol="0" anchor="t">
            <a:spAutoFit/>
          </a:bodyPr>
          <a:lstStyle/>
          <a:p>
            <a:pPr>
              <a:lnSpc>
                <a:spcPts val="1680"/>
              </a:lnSpc>
              <a:spcBef>
                <a:spcPct val="0"/>
              </a:spcBef>
            </a:pPr>
            <a:r>
              <a:rPr lang="vi-VN" sz="2133" noProof="1">
                <a:latin typeface="Open Sans"/>
                <a:ea typeface="Open Sans"/>
                <a:cs typeface="Open Sans"/>
                <a:sym typeface="Open Sans"/>
              </a:rPr>
              <a:t>GetxController và reactive programming​</a:t>
            </a:r>
          </a:p>
        </p:txBody>
      </p:sp>
      <p:grpSp>
        <p:nvGrpSpPr>
          <p:cNvPr id="71" name="Group 30">
            <a:extLst>
              <a:ext uri="{FF2B5EF4-FFF2-40B4-BE49-F238E27FC236}">
                <a16:creationId xmlns:a16="http://schemas.microsoft.com/office/drawing/2014/main" id="{B4A39291-5088-62FF-B200-77C486BD5043}"/>
              </a:ext>
            </a:extLst>
          </p:cNvPr>
          <p:cNvGrpSpPr/>
          <p:nvPr/>
        </p:nvGrpSpPr>
        <p:grpSpPr>
          <a:xfrm>
            <a:off x="1261200" y="2495046"/>
            <a:ext cx="720000" cy="720000"/>
            <a:chOff x="-1" y="-1"/>
            <a:chExt cx="862158" cy="834449"/>
          </a:xfrm>
        </p:grpSpPr>
        <p:sp>
          <p:nvSpPr>
            <p:cNvPr id="72" name="Freeform 31">
              <a:extLst>
                <a:ext uri="{FF2B5EF4-FFF2-40B4-BE49-F238E27FC236}">
                  <a16:creationId xmlns:a16="http://schemas.microsoft.com/office/drawing/2014/main" id="{3EF3B67F-D370-643B-01A7-F14D176027F8}"/>
                </a:ext>
              </a:extLst>
            </p:cNvPr>
            <p:cNvSpPr/>
            <p:nvPr/>
          </p:nvSpPr>
          <p:spPr>
            <a:xfrm>
              <a:off x="-1" y="-1"/>
              <a:ext cx="862158" cy="8344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73" name="TextBox 32">
              <a:extLst>
                <a:ext uri="{FF2B5EF4-FFF2-40B4-BE49-F238E27FC236}">
                  <a16:creationId xmlns:a16="http://schemas.microsoft.com/office/drawing/2014/main" id="{9520E9AA-3897-BCEB-8615-9570180A642B}"/>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74" name="TextBox 33">
            <a:extLst>
              <a:ext uri="{FF2B5EF4-FFF2-40B4-BE49-F238E27FC236}">
                <a16:creationId xmlns:a16="http://schemas.microsoft.com/office/drawing/2014/main" id="{C150D800-5BE6-34C6-689B-4249EF20FD79}"/>
              </a:ext>
            </a:extLst>
          </p:cNvPr>
          <p:cNvSpPr txBox="1"/>
          <p:nvPr/>
        </p:nvSpPr>
        <p:spPr>
          <a:xfrm>
            <a:off x="1489316" y="2836890"/>
            <a:ext cx="227132" cy="176395"/>
          </a:xfrm>
          <a:prstGeom prst="rect">
            <a:avLst/>
          </a:prstGeom>
        </p:spPr>
        <p:txBody>
          <a:bodyPr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II</a:t>
            </a:r>
          </a:p>
        </p:txBody>
      </p:sp>
      <p:sp>
        <p:nvSpPr>
          <p:cNvPr id="75" name="TextBox 29">
            <a:extLst>
              <a:ext uri="{FF2B5EF4-FFF2-40B4-BE49-F238E27FC236}">
                <a16:creationId xmlns:a16="http://schemas.microsoft.com/office/drawing/2014/main" id="{3FC8DEF3-0C6C-E9A6-603A-50C319B22B12}"/>
              </a:ext>
            </a:extLst>
          </p:cNvPr>
          <p:cNvSpPr txBox="1"/>
          <p:nvPr/>
        </p:nvSpPr>
        <p:spPr>
          <a:xfrm>
            <a:off x="2413209" y="3602711"/>
            <a:ext cx="4872494" cy="234103"/>
          </a:xfrm>
          <a:prstGeom prst="rect">
            <a:avLst/>
          </a:prstGeom>
        </p:spPr>
        <p:txBody>
          <a:bodyPr wrap="square" lIns="0" tIns="0" rIns="0" bIns="0" rtlCol="0" anchor="t">
            <a:spAutoFit/>
          </a:bodyPr>
          <a:lstStyle/>
          <a:p>
            <a:pPr>
              <a:lnSpc>
                <a:spcPts val="1680"/>
              </a:lnSpc>
              <a:spcBef>
                <a:spcPct val="0"/>
              </a:spcBef>
            </a:pPr>
            <a:r>
              <a:rPr lang="vi-VN" sz="2133" noProof="1">
                <a:latin typeface="Open Sans"/>
                <a:ea typeface="Open Sans"/>
                <a:cs typeface="Open Sans"/>
                <a:sym typeface="Open Sans"/>
              </a:rPr>
              <a:t>Obx widget và dependency injection​</a:t>
            </a:r>
          </a:p>
        </p:txBody>
      </p:sp>
      <p:grpSp>
        <p:nvGrpSpPr>
          <p:cNvPr id="76" name="Group 30">
            <a:extLst>
              <a:ext uri="{FF2B5EF4-FFF2-40B4-BE49-F238E27FC236}">
                <a16:creationId xmlns:a16="http://schemas.microsoft.com/office/drawing/2014/main" id="{D6C88C17-BC8D-F309-C786-B4399B10DED9}"/>
              </a:ext>
            </a:extLst>
          </p:cNvPr>
          <p:cNvGrpSpPr/>
          <p:nvPr/>
        </p:nvGrpSpPr>
        <p:grpSpPr>
          <a:xfrm>
            <a:off x="1261200" y="3297092"/>
            <a:ext cx="720000" cy="720000"/>
            <a:chOff x="-1" y="-1"/>
            <a:chExt cx="862158" cy="834449"/>
          </a:xfrm>
        </p:grpSpPr>
        <p:sp>
          <p:nvSpPr>
            <p:cNvPr id="77" name="Freeform 31">
              <a:extLst>
                <a:ext uri="{FF2B5EF4-FFF2-40B4-BE49-F238E27FC236}">
                  <a16:creationId xmlns:a16="http://schemas.microsoft.com/office/drawing/2014/main" id="{1FD9BA69-BE79-D73C-C278-83B52B1AB213}"/>
                </a:ext>
              </a:extLst>
            </p:cNvPr>
            <p:cNvSpPr/>
            <p:nvPr/>
          </p:nvSpPr>
          <p:spPr>
            <a:xfrm>
              <a:off x="-1" y="-1"/>
              <a:ext cx="862158" cy="8344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78" name="TextBox 32">
              <a:extLst>
                <a:ext uri="{FF2B5EF4-FFF2-40B4-BE49-F238E27FC236}">
                  <a16:creationId xmlns:a16="http://schemas.microsoft.com/office/drawing/2014/main" id="{777B4FF3-5CEA-085F-5186-28274332BE40}"/>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79" name="TextBox 33">
            <a:extLst>
              <a:ext uri="{FF2B5EF4-FFF2-40B4-BE49-F238E27FC236}">
                <a16:creationId xmlns:a16="http://schemas.microsoft.com/office/drawing/2014/main" id="{7384710A-237B-E3D1-9727-BF3975300B9D}"/>
              </a:ext>
            </a:extLst>
          </p:cNvPr>
          <p:cNvSpPr txBox="1"/>
          <p:nvPr/>
        </p:nvSpPr>
        <p:spPr>
          <a:xfrm>
            <a:off x="1473200" y="3638936"/>
            <a:ext cx="288684" cy="176395"/>
          </a:xfrm>
          <a:prstGeom prst="rect">
            <a:avLst/>
          </a:prstGeom>
        </p:spPr>
        <p:txBody>
          <a:bodyPr wrap="square"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III</a:t>
            </a:r>
          </a:p>
        </p:txBody>
      </p:sp>
      <p:grpSp>
        <p:nvGrpSpPr>
          <p:cNvPr id="81" name="Group 30">
            <a:extLst>
              <a:ext uri="{FF2B5EF4-FFF2-40B4-BE49-F238E27FC236}">
                <a16:creationId xmlns:a16="http://schemas.microsoft.com/office/drawing/2014/main" id="{813652A7-999C-D125-409D-933BB14EF459}"/>
              </a:ext>
            </a:extLst>
          </p:cNvPr>
          <p:cNvGrpSpPr/>
          <p:nvPr/>
        </p:nvGrpSpPr>
        <p:grpSpPr>
          <a:xfrm>
            <a:off x="1270000" y="4099138"/>
            <a:ext cx="720000" cy="720000"/>
            <a:chOff x="-1" y="-1"/>
            <a:chExt cx="862158" cy="834449"/>
          </a:xfrm>
        </p:grpSpPr>
        <p:sp>
          <p:nvSpPr>
            <p:cNvPr id="82" name="Freeform 31">
              <a:extLst>
                <a:ext uri="{FF2B5EF4-FFF2-40B4-BE49-F238E27FC236}">
                  <a16:creationId xmlns:a16="http://schemas.microsoft.com/office/drawing/2014/main" id="{D7949AE2-85B4-11F9-E5F1-4348E17C561F}"/>
                </a:ext>
              </a:extLst>
            </p:cNvPr>
            <p:cNvSpPr/>
            <p:nvPr/>
          </p:nvSpPr>
          <p:spPr>
            <a:xfrm>
              <a:off x="-1" y="-1"/>
              <a:ext cx="862158" cy="8344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83" name="TextBox 32">
              <a:extLst>
                <a:ext uri="{FF2B5EF4-FFF2-40B4-BE49-F238E27FC236}">
                  <a16:creationId xmlns:a16="http://schemas.microsoft.com/office/drawing/2014/main" id="{2CFEC6CF-F30A-F491-29CD-0D6B5BF29EEF}"/>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84" name="TextBox 33">
            <a:extLst>
              <a:ext uri="{FF2B5EF4-FFF2-40B4-BE49-F238E27FC236}">
                <a16:creationId xmlns:a16="http://schemas.microsoft.com/office/drawing/2014/main" id="{6FC6396D-5BD7-F1D4-1242-8F7FD93A3FFB}"/>
              </a:ext>
            </a:extLst>
          </p:cNvPr>
          <p:cNvSpPr txBox="1"/>
          <p:nvPr/>
        </p:nvSpPr>
        <p:spPr>
          <a:xfrm>
            <a:off x="1422400" y="4440982"/>
            <a:ext cx="378230" cy="176395"/>
          </a:xfrm>
          <a:prstGeom prst="rect">
            <a:avLst/>
          </a:prstGeom>
        </p:spPr>
        <p:txBody>
          <a:bodyPr wrap="square"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IV</a:t>
            </a:r>
          </a:p>
        </p:txBody>
      </p:sp>
      <p:sp>
        <p:nvSpPr>
          <p:cNvPr id="85" name="TextBox 29">
            <a:extLst>
              <a:ext uri="{FF2B5EF4-FFF2-40B4-BE49-F238E27FC236}">
                <a16:creationId xmlns:a16="http://schemas.microsoft.com/office/drawing/2014/main" id="{3DD16260-FD62-C9E9-5B4E-50A8EC05A083}"/>
              </a:ext>
            </a:extLst>
          </p:cNvPr>
          <p:cNvSpPr txBox="1"/>
          <p:nvPr/>
        </p:nvSpPr>
        <p:spPr>
          <a:xfrm>
            <a:off x="2422009" y="5206803"/>
            <a:ext cx="5404468" cy="234103"/>
          </a:xfrm>
          <a:prstGeom prst="rect">
            <a:avLst/>
          </a:prstGeom>
        </p:spPr>
        <p:txBody>
          <a:bodyPr wrap="square" lIns="0" tIns="0" rIns="0" bIns="0" rtlCol="0" anchor="t">
            <a:spAutoFit/>
          </a:bodyPr>
          <a:lstStyle/>
          <a:p>
            <a:pPr>
              <a:lnSpc>
                <a:spcPts val="1680"/>
              </a:lnSpc>
              <a:spcBef>
                <a:spcPct val="0"/>
              </a:spcBef>
            </a:pPr>
            <a:r>
              <a:rPr lang="vi-VN" sz="2133" noProof="1">
                <a:latin typeface="Open Sans"/>
                <a:ea typeface="Open Sans"/>
                <a:cs typeface="Open Sans"/>
                <a:sym typeface="Open Sans"/>
              </a:rPr>
              <a:t>Performance benefits và use cases​</a:t>
            </a:r>
          </a:p>
        </p:txBody>
      </p:sp>
      <p:grpSp>
        <p:nvGrpSpPr>
          <p:cNvPr id="86" name="Group 30">
            <a:extLst>
              <a:ext uri="{FF2B5EF4-FFF2-40B4-BE49-F238E27FC236}">
                <a16:creationId xmlns:a16="http://schemas.microsoft.com/office/drawing/2014/main" id="{6F766384-D492-6547-30D9-4B4C703C3E60}"/>
              </a:ext>
            </a:extLst>
          </p:cNvPr>
          <p:cNvGrpSpPr/>
          <p:nvPr/>
        </p:nvGrpSpPr>
        <p:grpSpPr>
          <a:xfrm>
            <a:off x="1270000" y="4901184"/>
            <a:ext cx="720000" cy="720000"/>
            <a:chOff x="-1" y="-1"/>
            <a:chExt cx="862158" cy="834449"/>
          </a:xfrm>
        </p:grpSpPr>
        <p:sp>
          <p:nvSpPr>
            <p:cNvPr id="87" name="Freeform 31">
              <a:extLst>
                <a:ext uri="{FF2B5EF4-FFF2-40B4-BE49-F238E27FC236}">
                  <a16:creationId xmlns:a16="http://schemas.microsoft.com/office/drawing/2014/main" id="{28FB0330-FF64-E02C-77BF-CCD5E07B8332}"/>
                </a:ext>
              </a:extLst>
            </p:cNvPr>
            <p:cNvSpPr/>
            <p:nvPr/>
          </p:nvSpPr>
          <p:spPr>
            <a:xfrm>
              <a:off x="-1" y="-1"/>
              <a:ext cx="862158" cy="8344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88" name="TextBox 32">
              <a:extLst>
                <a:ext uri="{FF2B5EF4-FFF2-40B4-BE49-F238E27FC236}">
                  <a16:creationId xmlns:a16="http://schemas.microsoft.com/office/drawing/2014/main" id="{EC6B581B-C82A-B57E-D55F-596EB6B3874E}"/>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89" name="TextBox 33">
            <a:extLst>
              <a:ext uri="{FF2B5EF4-FFF2-40B4-BE49-F238E27FC236}">
                <a16:creationId xmlns:a16="http://schemas.microsoft.com/office/drawing/2014/main" id="{C8024520-A017-DCA6-8B23-8CD87E5252A2}"/>
              </a:ext>
            </a:extLst>
          </p:cNvPr>
          <p:cNvSpPr txBox="1"/>
          <p:nvPr/>
        </p:nvSpPr>
        <p:spPr>
          <a:xfrm>
            <a:off x="1498116" y="5243028"/>
            <a:ext cx="227132" cy="176395"/>
          </a:xfrm>
          <a:prstGeom prst="rect">
            <a:avLst/>
          </a:prstGeom>
        </p:spPr>
        <p:txBody>
          <a:bodyPr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V</a:t>
            </a:r>
          </a:p>
        </p:txBody>
      </p:sp>
      <p:sp>
        <p:nvSpPr>
          <p:cNvPr id="90" name="TextBox 29">
            <a:extLst>
              <a:ext uri="{FF2B5EF4-FFF2-40B4-BE49-F238E27FC236}">
                <a16:creationId xmlns:a16="http://schemas.microsoft.com/office/drawing/2014/main" id="{1EFAE7B9-5744-68C9-EB35-EBA1A6C8B45A}"/>
              </a:ext>
            </a:extLst>
          </p:cNvPr>
          <p:cNvSpPr txBox="1"/>
          <p:nvPr/>
        </p:nvSpPr>
        <p:spPr>
          <a:xfrm>
            <a:off x="2413209" y="6011136"/>
            <a:ext cx="2971591" cy="234103"/>
          </a:xfrm>
          <a:prstGeom prst="rect">
            <a:avLst/>
          </a:prstGeom>
        </p:spPr>
        <p:txBody>
          <a:bodyPr lIns="0" tIns="0" rIns="0" bIns="0" rtlCol="0" anchor="t">
            <a:spAutoFit/>
          </a:bodyPr>
          <a:lstStyle/>
          <a:p>
            <a:pPr>
              <a:lnSpc>
                <a:spcPts val="1680"/>
              </a:lnSpc>
              <a:spcBef>
                <a:spcPct val="0"/>
              </a:spcBef>
            </a:pPr>
            <a:r>
              <a:rPr lang="vi-VN" sz="2133" noProof="1">
                <a:latin typeface="Open Sans"/>
                <a:ea typeface="Open Sans"/>
                <a:cs typeface="Open Sans"/>
                <a:sym typeface="Open Sans"/>
              </a:rPr>
              <a:t>Tài liệu tham khảo</a:t>
            </a:r>
          </a:p>
        </p:txBody>
      </p:sp>
      <p:grpSp>
        <p:nvGrpSpPr>
          <p:cNvPr id="91" name="Group 30">
            <a:extLst>
              <a:ext uri="{FF2B5EF4-FFF2-40B4-BE49-F238E27FC236}">
                <a16:creationId xmlns:a16="http://schemas.microsoft.com/office/drawing/2014/main" id="{B9370AE3-BCED-EC06-24EE-B347EF720A46}"/>
              </a:ext>
            </a:extLst>
          </p:cNvPr>
          <p:cNvGrpSpPr/>
          <p:nvPr/>
        </p:nvGrpSpPr>
        <p:grpSpPr>
          <a:xfrm>
            <a:off x="1261200" y="5705517"/>
            <a:ext cx="720000" cy="720000"/>
            <a:chOff x="-1" y="-1"/>
            <a:chExt cx="862158" cy="834449"/>
          </a:xfrm>
        </p:grpSpPr>
        <p:sp>
          <p:nvSpPr>
            <p:cNvPr id="92" name="Freeform 31">
              <a:extLst>
                <a:ext uri="{FF2B5EF4-FFF2-40B4-BE49-F238E27FC236}">
                  <a16:creationId xmlns:a16="http://schemas.microsoft.com/office/drawing/2014/main" id="{F84D0974-AC57-813E-6ED2-01E556D65829}"/>
                </a:ext>
              </a:extLst>
            </p:cNvPr>
            <p:cNvSpPr/>
            <p:nvPr/>
          </p:nvSpPr>
          <p:spPr>
            <a:xfrm>
              <a:off x="-1" y="-1"/>
              <a:ext cx="862158" cy="8344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93" name="TextBox 32">
              <a:extLst>
                <a:ext uri="{FF2B5EF4-FFF2-40B4-BE49-F238E27FC236}">
                  <a16:creationId xmlns:a16="http://schemas.microsoft.com/office/drawing/2014/main" id="{F0A55349-8199-8B24-B255-CC71C0A7A3AB}"/>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94" name="TextBox 33">
            <a:extLst>
              <a:ext uri="{FF2B5EF4-FFF2-40B4-BE49-F238E27FC236}">
                <a16:creationId xmlns:a16="http://schemas.microsoft.com/office/drawing/2014/main" id="{AF7DF675-F54C-C27D-9E04-1BF54F69864E}"/>
              </a:ext>
            </a:extLst>
          </p:cNvPr>
          <p:cNvSpPr txBox="1"/>
          <p:nvPr/>
        </p:nvSpPr>
        <p:spPr>
          <a:xfrm>
            <a:off x="1422400" y="6047361"/>
            <a:ext cx="387030" cy="176395"/>
          </a:xfrm>
          <a:prstGeom prst="rect">
            <a:avLst/>
          </a:prstGeom>
        </p:spPr>
        <p:txBody>
          <a:bodyPr wrap="square"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VI</a:t>
            </a:r>
          </a:p>
        </p:txBody>
      </p:sp>
      <p:sp>
        <p:nvSpPr>
          <p:cNvPr id="96" name="TextBox 95">
            <a:extLst>
              <a:ext uri="{FF2B5EF4-FFF2-40B4-BE49-F238E27FC236}">
                <a16:creationId xmlns:a16="http://schemas.microsoft.com/office/drawing/2014/main" id="{2EEF3D89-E1EF-0627-A8FA-2A30A2008A1A}"/>
              </a:ext>
            </a:extLst>
          </p:cNvPr>
          <p:cNvSpPr txBox="1"/>
          <p:nvPr/>
        </p:nvSpPr>
        <p:spPr>
          <a:xfrm>
            <a:off x="2355653" y="4340646"/>
            <a:ext cx="5228780" cy="330411"/>
          </a:xfrm>
          <a:prstGeom prst="rect">
            <a:avLst/>
          </a:prstGeom>
          <a:noFill/>
        </p:spPr>
        <p:txBody>
          <a:bodyPr wrap="square" rtlCol="0">
            <a:spAutoFit/>
          </a:bodyPr>
          <a:lstStyle/>
          <a:p>
            <a:pPr defTabSz="609630">
              <a:lnSpc>
                <a:spcPts val="1680"/>
              </a:lnSpc>
              <a:spcBef>
                <a:spcPct val="0"/>
              </a:spcBef>
              <a:defRPr/>
            </a:pPr>
            <a:r>
              <a:rPr lang="vi-VN" sz="2133" noProof="1">
                <a:solidFill>
                  <a:prstClr val="black"/>
                </a:solidFill>
                <a:latin typeface="Open Sans"/>
                <a:ea typeface="Open Sans"/>
                <a:cs typeface="Open Sans"/>
                <a:sym typeface="Open Sans"/>
              </a:rPr>
              <a:t>GetX routing và navigation​</a:t>
            </a:r>
            <a:endParaRPr lang="vi-VN" sz="1200" noProof="1"/>
          </a:p>
        </p:txBody>
      </p:sp>
      <p:sp>
        <p:nvSpPr>
          <p:cNvPr id="3" name="Chỗ dành sẵn cho Số hiệu Bản chiếu 2">
            <a:extLst>
              <a:ext uri="{FF2B5EF4-FFF2-40B4-BE49-F238E27FC236}">
                <a16:creationId xmlns:a16="http://schemas.microsoft.com/office/drawing/2014/main" id="{E4C346BF-61D6-882F-3349-1285AEE12F5B}"/>
              </a:ext>
            </a:extLst>
          </p:cNvPr>
          <p:cNvSpPr>
            <a:spLocks noGrp="1"/>
          </p:cNvSpPr>
          <p:nvPr>
            <p:ph type="sldNum" sz="quarter" idx="12"/>
          </p:nvPr>
        </p:nvSpPr>
        <p:spPr/>
        <p:txBody>
          <a:bodyPr/>
          <a:lstStyle/>
          <a:p>
            <a:fld id="{47EAD358-37BE-4FE3-9163-1C89D475336D}" type="slidenum">
              <a:rPr lang="en-AE" smtClean="0"/>
              <a:t>3</a:t>
            </a:fld>
            <a:endParaRPr lang="en-A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EE81B-C992-006F-91C4-B4261A43E609}"/>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E45294D8-C5BA-F436-E9F1-20D843D00CCF}"/>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BF7EB216-0B44-00EC-EE20-FB232D6FDE0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16" name="TextBox 16">
              <a:extLst>
                <a:ext uri="{FF2B5EF4-FFF2-40B4-BE49-F238E27FC236}">
                  <a16:creationId xmlns:a16="http://schemas.microsoft.com/office/drawing/2014/main" id="{BA825272-A08C-DA9F-84F5-21BBA3E5EF21}"/>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1026" name="Picture 2" descr="KHOA ĐIỆN TỬ VIỄN THÔNG">
            <a:extLst>
              <a:ext uri="{FF2B5EF4-FFF2-40B4-BE49-F238E27FC236}">
                <a16:creationId xmlns:a16="http://schemas.microsoft.com/office/drawing/2014/main" id="{D09AB6B6-B905-B076-2987-9D44673D3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44DECB2-86DE-A31A-0851-7F93E9D464A3}"/>
              </a:ext>
            </a:extLst>
          </p:cNvPr>
          <p:cNvSpPr txBox="1"/>
          <p:nvPr/>
        </p:nvSpPr>
        <p:spPr>
          <a:xfrm>
            <a:off x="382440" y="2525531"/>
            <a:ext cx="11427119" cy="2923877"/>
          </a:xfrm>
          <a:prstGeom prst="rect">
            <a:avLst/>
          </a:prstGeom>
          <a:noFill/>
        </p:spPr>
        <p:txBody>
          <a:bodyPr wrap="square">
            <a:spAutoFit/>
          </a:bodyPr>
          <a:lstStyle/>
          <a:p>
            <a:pPr marL="304815" indent="-304815">
              <a:buFont typeface="Wingdings" panose="05000000000000000000" pitchFamily="2" charset="2"/>
              <a:buChar char="v"/>
            </a:pPr>
            <a:r>
              <a:rPr lang="vi-VN" sz="2300" noProof="1">
                <a:latin typeface="Open Sans" panose="020B0606030504020204" pitchFamily="34" charset="0"/>
                <a:ea typeface="Open Sans" panose="020B0606030504020204" pitchFamily="34" charset="0"/>
                <a:cs typeface="Open Sans" panose="020B0606030504020204" pitchFamily="34" charset="0"/>
              </a:rPr>
              <a:t>GetX là một thư viện nhẹ, mạnh mẽ và siêu nhanh cho Flutter, kết hợp 3 tính năng chính trong cùng 1 package.</a:t>
            </a:r>
          </a:p>
          <a:p>
            <a:pPr marL="304815" indent="-304815">
              <a:buFont typeface="Wingdings" panose="05000000000000000000" pitchFamily="2" charset="2"/>
              <a:buChar char="v"/>
            </a:pPr>
            <a:endParaRPr lang="vi-VN" sz="2300" noProof="1">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mj-lt"/>
              <a:buAutoNum type="arabicPeriod"/>
            </a:pPr>
            <a:r>
              <a:rPr lang="vi-VN" sz="2300" noProof="1">
                <a:latin typeface="Open Sans" panose="020B0606030504020204" pitchFamily="34" charset="0"/>
                <a:ea typeface="Open Sans" panose="020B0606030504020204" pitchFamily="34" charset="0"/>
                <a:cs typeface="Open Sans" panose="020B0606030504020204" pitchFamily="34" charset="0"/>
              </a:rPr>
              <a:t>State Management (quản lý trạng thái)</a:t>
            </a:r>
          </a:p>
          <a:p>
            <a:pPr marL="457200" indent="-457200">
              <a:buFont typeface="+mj-lt"/>
              <a:buAutoNum type="arabicPeriod"/>
            </a:pPr>
            <a:endParaRPr lang="vi-VN" sz="2300" noProof="1">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mj-lt"/>
              <a:buAutoNum type="arabicPeriod"/>
            </a:pPr>
            <a:r>
              <a:rPr lang="vi-VN" sz="2300" noProof="1">
                <a:latin typeface="Open Sans" panose="020B0606030504020204" pitchFamily="34" charset="0"/>
                <a:ea typeface="Open Sans" panose="020B0606030504020204" pitchFamily="34" charset="0"/>
                <a:cs typeface="Open Sans" panose="020B0606030504020204" pitchFamily="34" charset="0"/>
              </a:rPr>
              <a:t>Route Management (quản lý điều hướng)</a:t>
            </a:r>
          </a:p>
          <a:p>
            <a:pPr marL="457200" indent="-457200">
              <a:buFont typeface="+mj-lt"/>
              <a:buAutoNum type="arabicPeriod"/>
            </a:pPr>
            <a:endParaRPr lang="vi-VN" sz="2300" noProof="1">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mj-lt"/>
              <a:buAutoNum type="arabicPeriod"/>
            </a:pPr>
            <a:r>
              <a:rPr lang="vi-VN" sz="2300" noProof="1">
                <a:latin typeface="Open Sans" panose="020B0606030504020204" pitchFamily="34" charset="0"/>
                <a:ea typeface="Open Sans" panose="020B0606030504020204" pitchFamily="34" charset="0"/>
                <a:cs typeface="Open Sans" panose="020B0606030504020204" pitchFamily="34" charset="0"/>
              </a:rPr>
              <a:t>Dependency Injection (quản lý phụ thuộc)</a:t>
            </a:r>
          </a:p>
        </p:txBody>
      </p:sp>
      <p:sp>
        <p:nvSpPr>
          <p:cNvPr id="2" name="TextBox 17"/>
          <p:cNvSpPr txBox="1"/>
          <p:nvPr/>
        </p:nvSpPr>
        <p:spPr>
          <a:xfrm>
            <a:off x="3057389" y="889001"/>
            <a:ext cx="6077223" cy="666401"/>
          </a:xfrm>
          <a:prstGeom prst="rect">
            <a:avLst/>
          </a:prstGeom>
        </p:spPr>
        <p:txBody>
          <a:bodyPr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I. Giới thiệu về GetX</a:t>
            </a:r>
          </a:p>
        </p:txBody>
      </p:sp>
      <p:grpSp>
        <p:nvGrpSpPr>
          <p:cNvPr id="18" name="Group 18"/>
          <p:cNvGrpSpPr/>
          <p:nvPr/>
        </p:nvGrpSpPr>
        <p:grpSpPr>
          <a:xfrm>
            <a:off x="5721839" y="1752600"/>
            <a:ext cx="653967" cy="66042"/>
            <a:chOff x="0" y="0"/>
            <a:chExt cx="258358" cy="26091"/>
          </a:xfrm>
        </p:grpSpPr>
        <p:sp>
          <p:nvSpPr>
            <p:cNvPr id="19" name="Freeform 19"/>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20" name="TextBox 20"/>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21" name="Group 21"/>
          <p:cNvGrpSpPr/>
          <p:nvPr/>
        </p:nvGrpSpPr>
        <p:grpSpPr>
          <a:xfrm>
            <a:off x="6492611" y="1785621"/>
            <a:ext cx="66042" cy="6604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3" name="TextBox 23"/>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sp>
        <p:nvSpPr>
          <p:cNvPr id="4" name="Chỗ dành sẵn cho Số hiệu Bản chiếu 3">
            <a:extLst>
              <a:ext uri="{FF2B5EF4-FFF2-40B4-BE49-F238E27FC236}">
                <a16:creationId xmlns:a16="http://schemas.microsoft.com/office/drawing/2014/main" id="{67C8F879-DCEC-E90C-6D7B-879A7D6E9BC4}"/>
              </a:ext>
            </a:extLst>
          </p:cNvPr>
          <p:cNvSpPr>
            <a:spLocks noGrp="1"/>
          </p:cNvSpPr>
          <p:nvPr>
            <p:ph type="sldNum" sz="quarter" idx="12"/>
          </p:nvPr>
        </p:nvSpPr>
        <p:spPr/>
        <p:txBody>
          <a:bodyPr/>
          <a:lstStyle/>
          <a:p>
            <a:fld id="{47EAD358-37BE-4FE3-9163-1C89D475336D}" type="slidenum">
              <a:rPr lang="en-AE" smtClean="0"/>
              <a:t>4</a:t>
            </a:fld>
            <a:endParaRPr lang="en-AE"/>
          </a:p>
        </p:txBody>
      </p:sp>
    </p:spTree>
    <p:extLst>
      <p:ext uri="{BB962C8B-B14F-4D97-AF65-F5344CB8AC3E}">
        <p14:creationId xmlns:p14="http://schemas.microsoft.com/office/powerpoint/2010/main" val="3206945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D99AE-E5EB-93E8-3DB7-E0504BAFFE63}"/>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6E72EB0D-88E7-0A0C-A565-F469F7E8289A}"/>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369CBF06-8E1F-F64F-FEC9-471961B2D5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16" name="TextBox 16">
              <a:extLst>
                <a:ext uri="{FF2B5EF4-FFF2-40B4-BE49-F238E27FC236}">
                  <a16:creationId xmlns:a16="http://schemas.microsoft.com/office/drawing/2014/main" id="{2A864F9C-3565-682E-E5ED-BC2AC45D99C1}"/>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pic>
        <p:nvPicPr>
          <p:cNvPr id="1026" name="Picture 2" descr="KHOA ĐIỆN TỬ VIỄN THÔNG">
            <a:extLst>
              <a:ext uri="{FF2B5EF4-FFF2-40B4-BE49-F238E27FC236}">
                <a16:creationId xmlns:a16="http://schemas.microsoft.com/office/drawing/2014/main" id="{5FC45045-5D6E-FB2F-BA24-63AB76162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7">
            <a:extLst>
              <a:ext uri="{FF2B5EF4-FFF2-40B4-BE49-F238E27FC236}">
                <a16:creationId xmlns:a16="http://schemas.microsoft.com/office/drawing/2014/main" id="{FF5C2F72-783B-64A3-077F-079ED0D5623B}"/>
              </a:ext>
            </a:extLst>
          </p:cNvPr>
          <p:cNvSpPr txBox="1"/>
          <p:nvPr/>
        </p:nvSpPr>
        <p:spPr>
          <a:xfrm>
            <a:off x="795963" y="574372"/>
            <a:ext cx="10707772" cy="666401"/>
          </a:xfrm>
          <a:prstGeom prst="rect">
            <a:avLst/>
          </a:prstGeom>
        </p:spPr>
        <p:txBody>
          <a:bodyPr wrap="square"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II. GetxController và reactive programming​</a:t>
            </a:r>
          </a:p>
        </p:txBody>
      </p:sp>
      <p:grpSp>
        <p:nvGrpSpPr>
          <p:cNvPr id="12" name="Group 18">
            <a:extLst>
              <a:ext uri="{FF2B5EF4-FFF2-40B4-BE49-F238E27FC236}">
                <a16:creationId xmlns:a16="http://schemas.microsoft.com/office/drawing/2014/main" id="{B7CE5367-55EB-60A1-DFB0-5CC356794D76}"/>
              </a:ext>
            </a:extLst>
          </p:cNvPr>
          <p:cNvGrpSpPr/>
          <p:nvPr/>
        </p:nvGrpSpPr>
        <p:grpSpPr>
          <a:xfrm>
            <a:off x="5721839" y="1437971"/>
            <a:ext cx="653967" cy="66042"/>
            <a:chOff x="0" y="0"/>
            <a:chExt cx="258358" cy="26091"/>
          </a:xfrm>
        </p:grpSpPr>
        <p:sp>
          <p:nvSpPr>
            <p:cNvPr id="13" name="Freeform 19">
              <a:extLst>
                <a:ext uri="{FF2B5EF4-FFF2-40B4-BE49-F238E27FC236}">
                  <a16:creationId xmlns:a16="http://schemas.microsoft.com/office/drawing/2014/main" id="{7F2A08E9-765B-0BE4-0564-600E5E7BFE2A}"/>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30" name="TextBox 20">
              <a:extLst>
                <a:ext uri="{FF2B5EF4-FFF2-40B4-BE49-F238E27FC236}">
                  <a16:creationId xmlns:a16="http://schemas.microsoft.com/office/drawing/2014/main" id="{91D92489-DFA7-68CC-A430-5B429CA0114D}"/>
                </a:ext>
              </a:extLst>
            </p:cNvPr>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31" name="Group 21">
            <a:extLst>
              <a:ext uri="{FF2B5EF4-FFF2-40B4-BE49-F238E27FC236}">
                <a16:creationId xmlns:a16="http://schemas.microsoft.com/office/drawing/2014/main" id="{6DE67AF3-6E3E-F6ED-4983-F7A5273F416C}"/>
              </a:ext>
            </a:extLst>
          </p:cNvPr>
          <p:cNvGrpSpPr/>
          <p:nvPr/>
        </p:nvGrpSpPr>
        <p:grpSpPr>
          <a:xfrm>
            <a:off x="6515158" y="1432604"/>
            <a:ext cx="66042" cy="66042"/>
            <a:chOff x="0" y="0"/>
            <a:chExt cx="812800" cy="812800"/>
          </a:xfrm>
        </p:grpSpPr>
        <p:sp>
          <p:nvSpPr>
            <p:cNvPr id="32" name="Freeform 22">
              <a:extLst>
                <a:ext uri="{FF2B5EF4-FFF2-40B4-BE49-F238E27FC236}">
                  <a16:creationId xmlns:a16="http://schemas.microsoft.com/office/drawing/2014/main" id="{978962A0-6338-8875-7D51-E5BAF193DD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33" name="TextBox 23">
              <a:extLst>
                <a:ext uri="{FF2B5EF4-FFF2-40B4-BE49-F238E27FC236}">
                  <a16:creationId xmlns:a16="http://schemas.microsoft.com/office/drawing/2014/main" id="{C158F5A3-97A0-BBEA-1D06-A9405AECA1CD}"/>
                </a:ext>
              </a:extLst>
            </p:cNvPr>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sp>
        <p:nvSpPr>
          <p:cNvPr id="36" name="TextBox 24">
            <a:extLst>
              <a:ext uri="{FF2B5EF4-FFF2-40B4-BE49-F238E27FC236}">
                <a16:creationId xmlns:a16="http://schemas.microsoft.com/office/drawing/2014/main" id="{F77A8FA4-A883-DE55-5A32-939CF6D008C2}"/>
              </a:ext>
            </a:extLst>
          </p:cNvPr>
          <p:cNvSpPr txBox="1"/>
          <p:nvPr/>
        </p:nvSpPr>
        <p:spPr>
          <a:xfrm>
            <a:off x="3277402" y="3103016"/>
            <a:ext cx="4473564" cy="333425"/>
          </a:xfrm>
          <a:prstGeom prst="rect">
            <a:avLst/>
          </a:prstGeom>
        </p:spPr>
        <p:txBody>
          <a:bodyPr lIns="0" tIns="0" rIns="0" bIns="0" rtlCol="0" anchor="t">
            <a:spAutoFit/>
          </a:bodyPr>
          <a:lstStyle/>
          <a:p>
            <a:pPr>
              <a:lnSpc>
                <a:spcPts val="2613"/>
              </a:lnSpc>
            </a:pPr>
            <a:r>
              <a:rPr lang="vi-VN" sz="2300" noProof="1">
                <a:latin typeface="Open Sans"/>
                <a:ea typeface="Open Sans"/>
                <a:cs typeface="Open Sans"/>
                <a:sym typeface="Open Sans"/>
              </a:rPr>
              <a:t>GetxController</a:t>
            </a:r>
          </a:p>
        </p:txBody>
      </p:sp>
      <p:grpSp>
        <p:nvGrpSpPr>
          <p:cNvPr id="37" name="Group 25">
            <a:extLst>
              <a:ext uri="{FF2B5EF4-FFF2-40B4-BE49-F238E27FC236}">
                <a16:creationId xmlns:a16="http://schemas.microsoft.com/office/drawing/2014/main" id="{63EFD005-9B9D-FABF-9DA2-4C0E2B77F4DF}"/>
              </a:ext>
            </a:extLst>
          </p:cNvPr>
          <p:cNvGrpSpPr/>
          <p:nvPr/>
        </p:nvGrpSpPr>
        <p:grpSpPr>
          <a:xfrm>
            <a:off x="2540000" y="2971310"/>
            <a:ext cx="610109" cy="603542"/>
            <a:chOff x="0" y="0"/>
            <a:chExt cx="812800" cy="812800"/>
          </a:xfrm>
        </p:grpSpPr>
        <p:sp>
          <p:nvSpPr>
            <p:cNvPr id="38" name="Freeform 26">
              <a:extLst>
                <a:ext uri="{FF2B5EF4-FFF2-40B4-BE49-F238E27FC236}">
                  <a16:creationId xmlns:a16="http://schemas.microsoft.com/office/drawing/2014/main" id="{B01787E1-4F97-FB2C-3411-57CF4B144A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39" name="TextBox 27">
              <a:extLst>
                <a:ext uri="{FF2B5EF4-FFF2-40B4-BE49-F238E27FC236}">
                  <a16:creationId xmlns:a16="http://schemas.microsoft.com/office/drawing/2014/main" id="{479C10F7-8BEB-56A2-43E5-F580AF176745}"/>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40" name="TextBox 28">
            <a:extLst>
              <a:ext uri="{FF2B5EF4-FFF2-40B4-BE49-F238E27FC236}">
                <a16:creationId xmlns:a16="http://schemas.microsoft.com/office/drawing/2014/main" id="{F8ABFE2B-35ED-AEBE-6F90-7908E157D124}"/>
              </a:ext>
            </a:extLst>
          </p:cNvPr>
          <p:cNvSpPr txBox="1"/>
          <p:nvPr/>
        </p:nvSpPr>
        <p:spPr>
          <a:xfrm>
            <a:off x="2688651" y="3273080"/>
            <a:ext cx="312807" cy="176395"/>
          </a:xfrm>
          <a:prstGeom prst="rect">
            <a:avLst/>
          </a:prstGeom>
        </p:spPr>
        <p:txBody>
          <a:bodyPr wrap="square"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01</a:t>
            </a:r>
          </a:p>
        </p:txBody>
      </p:sp>
      <p:sp>
        <p:nvSpPr>
          <p:cNvPr id="41" name="TextBox 24">
            <a:extLst>
              <a:ext uri="{FF2B5EF4-FFF2-40B4-BE49-F238E27FC236}">
                <a16:creationId xmlns:a16="http://schemas.microsoft.com/office/drawing/2014/main" id="{FF99E3FC-AB0C-E80E-84FB-250AD8CC9B05}"/>
              </a:ext>
            </a:extLst>
          </p:cNvPr>
          <p:cNvSpPr txBox="1"/>
          <p:nvPr/>
        </p:nvSpPr>
        <p:spPr>
          <a:xfrm>
            <a:off x="3277402" y="4082852"/>
            <a:ext cx="5790693" cy="333425"/>
          </a:xfrm>
          <a:prstGeom prst="rect">
            <a:avLst/>
          </a:prstGeom>
        </p:spPr>
        <p:txBody>
          <a:bodyPr wrap="square" lIns="0" tIns="0" rIns="0" bIns="0" rtlCol="0" anchor="t">
            <a:spAutoFit/>
          </a:bodyPr>
          <a:lstStyle/>
          <a:p>
            <a:pPr>
              <a:lnSpc>
                <a:spcPts val="2613"/>
              </a:lnSpc>
              <a:spcBef>
                <a:spcPct val="0"/>
              </a:spcBef>
            </a:pPr>
            <a:r>
              <a:rPr lang="en-US" sz="2300" noProof="1">
                <a:latin typeface="Open Sans"/>
                <a:ea typeface="Open Sans"/>
                <a:cs typeface="Open Sans"/>
                <a:sym typeface="Open Sans"/>
              </a:rPr>
              <a:t>R</a:t>
            </a:r>
            <a:r>
              <a:rPr lang="vi-VN" sz="2300" noProof="1">
                <a:latin typeface="Open Sans"/>
                <a:ea typeface="Open Sans"/>
                <a:cs typeface="Open Sans"/>
                <a:sym typeface="Open Sans"/>
              </a:rPr>
              <a:t>eactive programming</a:t>
            </a:r>
          </a:p>
        </p:txBody>
      </p:sp>
      <p:grpSp>
        <p:nvGrpSpPr>
          <p:cNvPr id="42" name="Group 25">
            <a:extLst>
              <a:ext uri="{FF2B5EF4-FFF2-40B4-BE49-F238E27FC236}">
                <a16:creationId xmlns:a16="http://schemas.microsoft.com/office/drawing/2014/main" id="{626F08FF-71D9-26DA-E3D4-C27DCFE2B582}"/>
              </a:ext>
            </a:extLst>
          </p:cNvPr>
          <p:cNvGrpSpPr/>
          <p:nvPr/>
        </p:nvGrpSpPr>
        <p:grpSpPr>
          <a:xfrm>
            <a:off x="2540000" y="3937000"/>
            <a:ext cx="610109" cy="603542"/>
            <a:chOff x="0" y="0"/>
            <a:chExt cx="812800" cy="812800"/>
          </a:xfrm>
        </p:grpSpPr>
        <p:sp>
          <p:nvSpPr>
            <p:cNvPr id="43" name="Freeform 26">
              <a:extLst>
                <a:ext uri="{FF2B5EF4-FFF2-40B4-BE49-F238E27FC236}">
                  <a16:creationId xmlns:a16="http://schemas.microsoft.com/office/drawing/2014/main" id="{DC54F1FB-A940-D6DF-FD13-446C68F56A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44" name="TextBox 27">
              <a:extLst>
                <a:ext uri="{FF2B5EF4-FFF2-40B4-BE49-F238E27FC236}">
                  <a16:creationId xmlns:a16="http://schemas.microsoft.com/office/drawing/2014/main" id="{38F02C22-6479-1055-E570-B25420AE5F13}"/>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45" name="TextBox 28">
            <a:extLst>
              <a:ext uri="{FF2B5EF4-FFF2-40B4-BE49-F238E27FC236}">
                <a16:creationId xmlns:a16="http://schemas.microsoft.com/office/drawing/2014/main" id="{95A8250F-8CBA-C7F0-279B-57F8E9DF99BA}"/>
              </a:ext>
            </a:extLst>
          </p:cNvPr>
          <p:cNvSpPr txBox="1"/>
          <p:nvPr/>
        </p:nvSpPr>
        <p:spPr>
          <a:xfrm>
            <a:off x="2688651" y="4238771"/>
            <a:ext cx="312807" cy="176395"/>
          </a:xfrm>
          <a:prstGeom prst="rect">
            <a:avLst/>
          </a:prstGeom>
        </p:spPr>
        <p:txBody>
          <a:bodyPr wrap="square" lIns="0" tIns="0" rIns="0" bIns="0" rtlCol="0" anchor="t">
            <a:spAutoFit/>
          </a:bodyPr>
          <a:lstStyle/>
          <a:p>
            <a:pPr algn="ctr">
              <a:lnSpc>
                <a:spcPts val="1120"/>
              </a:lnSpc>
              <a:spcBef>
                <a:spcPct val="0"/>
              </a:spcBef>
            </a:pPr>
            <a:r>
              <a:rPr lang="vi-VN" sz="2133" b="1" noProof="1">
                <a:latin typeface="Open Sans Bold"/>
                <a:ea typeface="Open Sans Bold"/>
                <a:cs typeface="Open Sans Bold"/>
                <a:sym typeface="Open Sans Bold"/>
              </a:rPr>
              <a:t>02</a:t>
            </a:r>
          </a:p>
        </p:txBody>
      </p:sp>
      <p:sp>
        <p:nvSpPr>
          <p:cNvPr id="3" name="Chỗ dành sẵn cho Số hiệu Bản chiếu 2">
            <a:extLst>
              <a:ext uri="{FF2B5EF4-FFF2-40B4-BE49-F238E27FC236}">
                <a16:creationId xmlns:a16="http://schemas.microsoft.com/office/drawing/2014/main" id="{C10B64FB-F221-0648-D7B6-79A2B2451F9D}"/>
              </a:ext>
            </a:extLst>
          </p:cNvPr>
          <p:cNvSpPr>
            <a:spLocks noGrp="1"/>
          </p:cNvSpPr>
          <p:nvPr>
            <p:ph type="sldNum" sz="quarter" idx="12"/>
          </p:nvPr>
        </p:nvSpPr>
        <p:spPr/>
        <p:txBody>
          <a:bodyPr/>
          <a:lstStyle/>
          <a:p>
            <a:fld id="{47EAD358-37BE-4FE3-9163-1C89D475336D}" type="slidenum">
              <a:rPr lang="en-AE" smtClean="0"/>
              <a:t>5</a:t>
            </a:fld>
            <a:endParaRPr lang="en-AE"/>
          </a:p>
        </p:txBody>
      </p:sp>
    </p:spTree>
    <p:extLst>
      <p:ext uri="{BB962C8B-B14F-4D97-AF65-F5344CB8AC3E}">
        <p14:creationId xmlns:p14="http://schemas.microsoft.com/office/powerpoint/2010/main" val="3516315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a:extLst>
              <a:ext uri="{FF2B5EF4-FFF2-40B4-BE49-F238E27FC236}">
                <a16:creationId xmlns:a16="http://schemas.microsoft.com/office/drawing/2014/main" id="{FE74A4BE-C294-8696-7083-403D403B6A4D}"/>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A273D5AE-C4B3-9AE2-FFE9-F62E287BF4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E617F5DB-8A90-991D-8A4F-5A2265CB0DBF}"/>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03974780-9359-2AAE-93CB-14F48E447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18">
            <a:extLst>
              <a:ext uri="{FF2B5EF4-FFF2-40B4-BE49-F238E27FC236}">
                <a16:creationId xmlns:a16="http://schemas.microsoft.com/office/drawing/2014/main" id="{DD3AAA0C-C3B0-CF84-63B3-E3A01013721B}"/>
              </a:ext>
            </a:extLst>
          </p:cNvPr>
          <p:cNvGrpSpPr/>
          <p:nvPr/>
        </p:nvGrpSpPr>
        <p:grpSpPr>
          <a:xfrm>
            <a:off x="5721839" y="1239691"/>
            <a:ext cx="653967" cy="66042"/>
            <a:chOff x="0" y="0"/>
            <a:chExt cx="258358" cy="26091"/>
          </a:xfrm>
        </p:grpSpPr>
        <p:sp>
          <p:nvSpPr>
            <p:cNvPr id="9" name="Freeform 19">
              <a:extLst>
                <a:ext uri="{FF2B5EF4-FFF2-40B4-BE49-F238E27FC236}">
                  <a16:creationId xmlns:a16="http://schemas.microsoft.com/office/drawing/2014/main" id="{38E54EB1-34EB-1BC7-5456-245822AD4714}"/>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10" name="TextBox 20">
              <a:extLst>
                <a:ext uri="{FF2B5EF4-FFF2-40B4-BE49-F238E27FC236}">
                  <a16:creationId xmlns:a16="http://schemas.microsoft.com/office/drawing/2014/main" id="{E665100D-4CDD-8E2C-0B58-32767BCB346E}"/>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11" name="Group 21">
            <a:extLst>
              <a:ext uri="{FF2B5EF4-FFF2-40B4-BE49-F238E27FC236}">
                <a16:creationId xmlns:a16="http://schemas.microsoft.com/office/drawing/2014/main" id="{F667A46E-0DE1-EE21-C602-0B9C25EE22AA}"/>
              </a:ext>
            </a:extLst>
          </p:cNvPr>
          <p:cNvGrpSpPr/>
          <p:nvPr/>
        </p:nvGrpSpPr>
        <p:grpSpPr>
          <a:xfrm>
            <a:off x="6404120" y="1239691"/>
            <a:ext cx="66042" cy="66042"/>
            <a:chOff x="0" y="0"/>
            <a:chExt cx="812800" cy="812800"/>
          </a:xfrm>
        </p:grpSpPr>
        <p:sp>
          <p:nvSpPr>
            <p:cNvPr id="12" name="Freeform 22">
              <a:extLst>
                <a:ext uri="{FF2B5EF4-FFF2-40B4-BE49-F238E27FC236}">
                  <a16:creationId xmlns:a16="http://schemas.microsoft.com/office/drawing/2014/main" id="{7E43CBFD-786D-97DF-12DE-94D35336DA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13" name="TextBox 23">
              <a:extLst>
                <a:ext uri="{FF2B5EF4-FFF2-40B4-BE49-F238E27FC236}">
                  <a16:creationId xmlns:a16="http://schemas.microsoft.com/office/drawing/2014/main" id="{387B7117-98F7-FD04-98F8-3FC444488D4E}"/>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14" name="TextBox 24">
            <a:extLst>
              <a:ext uri="{FF2B5EF4-FFF2-40B4-BE49-F238E27FC236}">
                <a16:creationId xmlns:a16="http://schemas.microsoft.com/office/drawing/2014/main" id="{38E579D1-460C-3857-700B-828A1F5EFD40}"/>
              </a:ext>
            </a:extLst>
          </p:cNvPr>
          <p:cNvSpPr txBox="1"/>
          <p:nvPr/>
        </p:nvSpPr>
        <p:spPr>
          <a:xfrm>
            <a:off x="3175000" y="731691"/>
            <a:ext cx="5842000" cy="368178"/>
          </a:xfrm>
          <a:prstGeom prst="rect">
            <a:avLst/>
          </a:prstGeom>
        </p:spPr>
        <p:txBody>
          <a:bodyPr wrap="square" lIns="0" tIns="0" rIns="0" bIns="0" rtlCol="0" anchor="t">
            <a:spAutoFit/>
          </a:bodyPr>
          <a:lstStyle/>
          <a:p>
            <a:pPr algn="ctr">
              <a:lnSpc>
                <a:spcPts val="2613"/>
              </a:lnSpc>
            </a:pPr>
            <a:r>
              <a:rPr lang="vi-VN" sz="4047" noProof="1">
                <a:latin typeface="Arial" panose="020B0604020202020204" pitchFamily="34" charset="0"/>
                <a:ea typeface="Open Sans"/>
                <a:cs typeface="Arial" panose="020B0604020202020204" pitchFamily="34" charset="0"/>
                <a:sym typeface="Open Sans"/>
              </a:rPr>
              <a:t>GetxController</a:t>
            </a:r>
          </a:p>
        </p:txBody>
      </p:sp>
      <p:sp>
        <p:nvSpPr>
          <p:cNvPr id="15" name="TextBox 28">
            <a:extLst>
              <a:ext uri="{FF2B5EF4-FFF2-40B4-BE49-F238E27FC236}">
                <a16:creationId xmlns:a16="http://schemas.microsoft.com/office/drawing/2014/main" id="{D6F28339-192B-5979-1EBA-ED1E11712789}"/>
              </a:ext>
            </a:extLst>
          </p:cNvPr>
          <p:cNvSpPr txBox="1"/>
          <p:nvPr/>
        </p:nvSpPr>
        <p:spPr>
          <a:xfrm>
            <a:off x="3123905" y="874182"/>
            <a:ext cx="227132" cy="224036"/>
          </a:xfrm>
          <a:prstGeom prst="rect">
            <a:avLst/>
          </a:prstGeom>
        </p:spPr>
        <p:txBody>
          <a:bodyPr wrap="square" lIns="0" tIns="0" rIns="0" bIns="0" rtlCol="0" anchor="t">
            <a:spAutoFit/>
          </a:bodyPr>
          <a:lstStyle/>
          <a:p>
            <a:pPr algn="ctr">
              <a:lnSpc>
                <a:spcPts val="1120"/>
              </a:lnSpc>
              <a:spcBef>
                <a:spcPct val="0"/>
              </a:spcBef>
            </a:pPr>
            <a:r>
              <a:rPr lang="vi-VN" sz="4047" b="1" noProof="1">
                <a:latin typeface="Century Gothic Paneuropean Bold" panose="020B0604020202020204" charset="0"/>
                <a:ea typeface="Open Sans Bold"/>
                <a:cs typeface="Century Gothic Paneuropean Bold" panose="020B0604020202020204" charset="0"/>
                <a:sym typeface="Open Sans Bold"/>
              </a:rPr>
              <a:t>1</a:t>
            </a:r>
          </a:p>
        </p:txBody>
      </p:sp>
      <p:grpSp>
        <p:nvGrpSpPr>
          <p:cNvPr id="16" name="Group 25">
            <a:extLst>
              <a:ext uri="{FF2B5EF4-FFF2-40B4-BE49-F238E27FC236}">
                <a16:creationId xmlns:a16="http://schemas.microsoft.com/office/drawing/2014/main" id="{AFF81ECC-C92A-F5D9-BBFD-361D7DF20287}"/>
              </a:ext>
            </a:extLst>
          </p:cNvPr>
          <p:cNvGrpSpPr/>
          <p:nvPr/>
        </p:nvGrpSpPr>
        <p:grpSpPr>
          <a:xfrm>
            <a:off x="2706325" y="426891"/>
            <a:ext cx="697275" cy="702470"/>
            <a:chOff x="-150977" y="38100"/>
            <a:chExt cx="887577" cy="916704"/>
          </a:xfrm>
        </p:grpSpPr>
        <p:sp>
          <p:nvSpPr>
            <p:cNvPr id="17" name="Freeform 26">
              <a:extLst>
                <a:ext uri="{FF2B5EF4-FFF2-40B4-BE49-F238E27FC236}">
                  <a16:creationId xmlns:a16="http://schemas.microsoft.com/office/drawing/2014/main" id="{0AC7EB7C-022B-61C2-5AF9-DBE58C9E703F}"/>
                </a:ext>
              </a:extLst>
            </p:cNvPr>
            <p:cNvSpPr/>
            <p:nvPr/>
          </p:nvSpPr>
          <p:spPr>
            <a:xfrm>
              <a:off x="-150977" y="14200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18" name="TextBox 27">
              <a:extLst>
                <a:ext uri="{FF2B5EF4-FFF2-40B4-BE49-F238E27FC236}">
                  <a16:creationId xmlns:a16="http://schemas.microsoft.com/office/drawing/2014/main" id="{7FCAC0D5-8687-1045-82A7-1EB59F35D1FA}"/>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19" name="TextBox 28">
            <a:extLst>
              <a:ext uri="{FF2B5EF4-FFF2-40B4-BE49-F238E27FC236}">
                <a16:creationId xmlns:a16="http://schemas.microsoft.com/office/drawing/2014/main" id="{737CEF0C-592A-737A-4B82-86FD6D6E1C39}"/>
              </a:ext>
            </a:extLst>
          </p:cNvPr>
          <p:cNvSpPr txBox="1"/>
          <p:nvPr/>
        </p:nvSpPr>
        <p:spPr>
          <a:xfrm>
            <a:off x="2725004" y="890612"/>
            <a:ext cx="601173" cy="239746"/>
          </a:xfrm>
          <a:prstGeom prst="rect">
            <a:avLst/>
          </a:prstGeom>
        </p:spPr>
        <p:txBody>
          <a:bodyPr wrap="square" lIns="0" tIns="0" rIns="0" bIns="0" rtlCol="0" anchor="t">
            <a:spAutoFit/>
          </a:bodyPr>
          <a:lstStyle/>
          <a:p>
            <a:pPr algn="ctr">
              <a:lnSpc>
                <a:spcPts val="1120"/>
              </a:lnSpc>
              <a:spcBef>
                <a:spcPct val="0"/>
              </a:spcBef>
            </a:pPr>
            <a:r>
              <a:rPr lang="vi-VN" sz="4047" b="1" noProof="1">
                <a:latin typeface="Open Sans Bold"/>
                <a:ea typeface="Open Sans Bold"/>
                <a:cs typeface="Open Sans Bold"/>
                <a:sym typeface="Open Sans Bold"/>
              </a:rPr>
              <a:t>01</a:t>
            </a:r>
          </a:p>
        </p:txBody>
      </p:sp>
      <p:grpSp>
        <p:nvGrpSpPr>
          <p:cNvPr id="20" name="Group 14">
            <a:extLst>
              <a:ext uri="{FF2B5EF4-FFF2-40B4-BE49-F238E27FC236}">
                <a16:creationId xmlns:a16="http://schemas.microsoft.com/office/drawing/2014/main" id="{E426B3AF-E959-F921-F76E-217656B99066}"/>
              </a:ext>
            </a:extLst>
          </p:cNvPr>
          <p:cNvGrpSpPr/>
          <p:nvPr/>
        </p:nvGrpSpPr>
        <p:grpSpPr>
          <a:xfrm>
            <a:off x="11948774" y="5430112"/>
            <a:ext cx="486453" cy="486453"/>
            <a:chOff x="0" y="0"/>
            <a:chExt cx="812800" cy="812800"/>
          </a:xfrm>
        </p:grpSpPr>
        <p:sp>
          <p:nvSpPr>
            <p:cNvPr id="21" name="Freeform 15">
              <a:extLst>
                <a:ext uri="{FF2B5EF4-FFF2-40B4-BE49-F238E27FC236}">
                  <a16:creationId xmlns:a16="http://schemas.microsoft.com/office/drawing/2014/main" id="{76232794-ED5F-4692-82E6-E9BEF0D974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22" name="TextBox 16">
              <a:extLst>
                <a:ext uri="{FF2B5EF4-FFF2-40B4-BE49-F238E27FC236}">
                  <a16:creationId xmlns:a16="http://schemas.microsoft.com/office/drawing/2014/main" id="{9DE2917A-818C-7268-8319-1B9790C014BB}"/>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sp>
        <p:nvSpPr>
          <p:cNvPr id="23" name="TextBox 22">
            <a:extLst>
              <a:ext uri="{FF2B5EF4-FFF2-40B4-BE49-F238E27FC236}">
                <a16:creationId xmlns:a16="http://schemas.microsoft.com/office/drawing/2014/main" id="{AA838BDB-B1B7-C54E-7651-D2111CEC9CDC}"/>
              </a:ext>
            </a:extLst>
          </p:cNvPr>
          <p:cNvSpPr txBox="1"/>
          <p:nvPr/>
        </p:nvSpPr>
        <p:spPr>
          <a:xfrm>
            <a:off x="680330" y="1924006"/>
            <a:ext cx="10831340" cy="4693593"/>
          </a:xfrm>
          <a:prstGeom prst="rect">
            <a:avLst/>
          </a:prstGeom>
          <a:noFill/>
        </p:spPr>
        <p:txBody>
          <a:bodyPr wrap="square">
            <a:spAutoFit/>
          </a:bodyPr>
          <a:lstStyle/>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GetX Controller là một phần quan trọng của package GetX, dùng để quản lý state và logic nghiệp vụ trong ứng dụng Flutter theo pattern MVVM hoặc MVC.</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Đặc điểm chính:</a:t>
            </a:r>
          </a:p>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914400" lvl="1" indent="-457200">
              <a:buFont typeface="Wingdings" panose="05000000000000000000" pitchFamily="2" charset="2"/>
              <a:buChar char="Ø"/>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Quản lý state: Tự động cập nhật UI khi dữ liệu thay đổi </a:t>
            </a:r>
          </a:p>
          <a:p>
            <a:pPr marL="914400" lvl="1" indent="-457200">
              <a:buFont typeface="Wingdings" panose="05000000000000000000" pitchFamily="2" charset="2"/>
              <a:buChar char="Ø"/>
              <a:defRPr/>
            </a:pPr>
            <a:endPar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914400" lvl="1" indent="-457200">
              <a:buFont typeface="Wingdings" panose="05000000000000000000" pitchFamily="2" charset="2"/>
              <a:buChar char="Ø"/>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Quản lý vòng đời: Tự động dispose khi không còn sử dụng </a:t>
            </a:r>
          </a:p>
          <a:p>
            <a:pPr marL="914400" lvl="1" indent="-457200">
              <a:buFont typeface="Wingdings" panose="05000000000000000000" pitchFamily="2" charset="2"/>
              <a:buChar char="Ø"/>
              <a:defRPr/>
            </a:pPr>
            <a:endPar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914400" lvl="1" indent="-457200">
              <a:buFont typeface="Wingdings" panose="05000000000000000000" pitchFamily="2" charset="2"/>
              <a:buChar char="Ø"/>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Dependency Injection: Dễ dàng inject và sử dụng lại </a:t>
            </a:r>
          </a:p>
          <a:p>
            <a:pPr marL="914400" lvl="1" indent="-457200">
              <a:buFont typeface="Wingdings" panose="05000000000000000000" pitchFamily="2" charset="2"/>
              <a:buChar char="Ø"/>
              <a:defRPr/>
            </a:pPr>
            <a:endPar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914400" lvl="1" indent="-457200">
              <a:buFont typeface="Wingdings" panose="05000000000000000000" pitchFamily="2" charset="2"/>
              <a:buChar char="Ø"/>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Reactive Programming: Hỗ trợ .obs cho reactive state </a:t>
            </a:r>
          </a:p>
        </p:txBody>
      </p:sp>
      <p:sp>
        <p:nvSpPr>
          <p:cNvPr id="7" name="Chỗ dành sẵn cho Số hiệu Bản chiếu 6">
            <a:extLst>
              <a:ext uri="{FF2B5EF4-FFF2-40B4-BE49-F238E27FC236}">
                <a16:creationId xmlns:a16="http://schemas.microsoft.com/office/drawing/2014/main" id="{8A841E72-1C0C-FBF8-BDA5-6B1F5C7734CD}"/>
              </a:ext>
            </a:extLst>
          </p:cNvPr>
          <p:cNvSpPr>
            <a:spLocks noGrp="1"/>
          </p:cNvSpPr>
          <p:nvPr>
            <p:ph type="sldNum" sz="quarter" idx="12"/>
          </p:nvPr>
        </p:nvSpPr>
        <p:spPr/>
        <p:txBody>
          <a:bodyPr/>
          <a:lstStyle/>
          <a:p>
            <a:fld id="{47EAD358-37BE-4FE3-9163-1C89D475336D}" type="slidenum">
              <a:rPr lang="en-AE" smtClean="0"/>
              <a:t>6</a:t>
            </a:fld>
            <a:endParaRPr lang="en-AE"/>
          </a:p>
        </p:txBody>
      </p:sp>
    </p:spTree>
    <p:extLst>
      <p:ext uri="{BB962C8B-B14F-4D97-AF65-F5344CB8AC3E}">
        <p14:creationId xmlns:p14="http://schemas.microsoft.com/office/powerpoint/2010/main" val="987137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25BE6-750D-4E2C-FF7A-9F615F83B026}"/>
            </a:ext>
          </a:extLst>
        </p:cNvPr>
        <p:cNvGrpSpPr/>
        <p:nvPr/>
      </p:nvGrpSpPr>
      <p:grpSpPr>
        <a:xfrm>
          <a:off x="0" y="0"/>
          <a:ext cx="0" cy="0"/>
          <a:chOff x="0" y="0"/>
          <a:chExt cx="0" cy="0"/>
        </a:xfrm>
      </p:grpSpPr>
      <p:grpSp>
        <p:nvGrpSpPr>
          <p:cNvPr id="2" name="Group 14">
            <a:extLst>
              <a:ext uri="{FF2B5EF4-FFF2-40B4-BE49-F238E27FC236}">
                <a16:creationId xmlns:a16="http://schemas.microsoft.com/office/drawing/2014/main" id="{CDD87412-4CDD-9647-E9D2-F935FA7814E3}"/>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BB090438-E948-409F-820F-372FEBF8C2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AD0BC4B0-FEC5-AEC4-8AD4-63BF144F4347}"/>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B467EDF9-45CB-E41F-6E71-7042A19AFD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18">
            <a:extLst>
              <a:ext uri="{FF2B5EF4-FFF2-40B4-BE49-F238E27FC236}">
                <a16:creationId xmlns:a16="http://schemas.microsoft.com/office/drawing/2014/main" id="{A0D7E751-3A42-07AC-A456-BA02AF6DDF97}"/>
              </a:ext>
            </a:extLst>
          </p:cNvPr>
          <p:cNvGrpSpPr/>
          <p:nvPr/>
        </p:nvGrpSpPr>
        <p:grpSpPr>
          <a:xfrm>
            <a:off x="5721839" y="1239691"/>
            <a:ext cx="653967" cy="66042"/>
            <a:chOff x="0" y="0"/>
            <a:chExt cx="258358" cy="26091"/>
          </a:xfrm>
        </p:grpSpPr>
        <p:sp>
          <p:nvSpPr>
            <p:cNvPr id="7" name="Freeform 19">
              <a:extLst>
                <a:ext uri="{FF2B5EF4-FFF2-40B4-BE49-F238E27FC236}">
                  <a16:creationId xmlns:a16="http://schemas.microsoft.com/office/drawing/2014/main" id="{468234D2-0772-7750-3D17-4B5B3177682F}"/>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20" name="TextBox 20">
              <a:extLst>
                <a:ext uri="{FF2B5EF4-FFF2-40B4-BE49-F238E27FC236}">
                  <a16:creationId xmlns:a16="http://schemas.microsoft.com/office/drawing/2014/main" id="{18ABEF87-3FAC-5DEF-140C-7FF3C14FFF75}"/>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21" name="Group 21">
            <a:extLst>
              <a:ext uri="{FF2B5EF4-FFF2-40B4-BE49-F238E27FC236}">
                <a16:creationId xmlns:a16="http://schemas.microsoft.com/office/drawing/2014/main" id="{D77B6DB7-D096-0638-74FB-766CBE6BA753}"/>
              </a:ext>
            </a:extLst>
          </p:cNvPr>
          <p:cNvGrpSpPr/>
          <p:nvPr/>
        </p:nvGrpSpPr>
        <p:grpSpPr>
          <a:xfrm>
            <a:off x="6404120" y="1239691"/>
            <a:ext cx="66042" cy="66042"/>
            <a:chOff x="0" y="0"/>
            <a:chExt cx="812800" cy="812800"/>
          </a:xfrm>
        </p:grpSpPr>
        <p:sp>
          <p:nvSpPr>
            <p:cNvPr id="22" name="Freeform 22">
              <a:extLst>
                <a:ext uri="{FF2B5EF4-FFF2-40B4-BE49-F238E27FC236}">
                  <a16:creationId xmlns:a16="http://schemas.microsoft.com/office/drawing/2014/main" id="{C8F9CE83-8510-FD17-4083-31F5615924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23" name="TextBox 23">
              <a:extLst>
                <a:ext uri="{FF2B5EF4-FFF2-40B4-BE49-F238E27FC236}">
                  <a16:creationId xmlns:a16="http://schemas.microsoft.com/office/drawing/2014/main" id="{F5E4608D-C517-A4F6-3B3A-0A439F13961A}"/>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4" name="TextBox 24">
            <a:extLst>
              <a:ext uri="{FF2B5EF4-FFF2-40B4-BE49-F238E27FC236}">
                <a16:creationId xmlns:a16="http://schemas.microsoft.com/office/drawing/2014/main" id="{0A95BB83-BAF8-C38E-7189-F8F3F1A520A6}"/>
              </a:ext>
            </a:extLst>
          </p:cNvPr>
          <p:cNvSpPr txBox="1"/>
          <p:nvPr/>
        </p:nvSpPr>
        <p:spPr>
          <a:xfrm>
            <a:off x="3175000" y="731691"/>
            <a:ext cx="5842000" cy="368178"/>
          </a:xfrm>
          <a:prstGeom prst="rect">
            <a:avLst/>
          </a:prstGeom>
        </p:spPr>
        <p:txBody>
          <a:bodyPr wrap="square" lIns="0" tIns="0" rIns="0" bIns="0" rtlCol="0" anchor="t">
            <a:spAutoFit/>
          </a:bodyPr>
          <a:lstStyle/>
          <a:p>
            <a:pPr algn="ctr">
              <a:lnSpc>
                <a:spcPts val="2613"/>
              </a:lnSpc>
            </a:pPr>
            <a:r>
              <a:rPr lang="vi-VN" sz="4047" noProof="1">
                <a:latin typeface="Arial" panose="020B0604020202020204" pitchFamily="34" charset="0"/>
                <a:ea typeface="Open Sans"/>
                <a:cs typeface="Arial" panose="020B0604020202020204" pitchFamily="34" charset="0"/>
                <a:sym typeface="Open Sans"/>
              </a:rPr>
              <a:t>Reactive programming</a:t>
            </a:r>
          </a:p>
        </p:txBody>
      </p:sp>
      <p:sp>
        <p:nvSpPr>
          <p:cNvPr id="25" name="TextBox 28">
            <a:extLst>
              <a:ext uri="{FF2B5EF4-FFF2-40B4-BE49-F238E27FC236}">
                <a16:creationId xmlns:a16="http://schemas.microsoft.com/office/drawing/2014/main" id="{73C1BC5D-54AC-DD64-B3A7-23EB54057A1D}"/>
              </a:ext>
            </a:extLst>
          </p:cNvPr>
          <p:cNvSpPr txBox="1"/>
          <p:nvPr/>
        </p:nvSpPr>
        <p:spPr>
          <a:xfrm>
            <a:off x="3123905" y="874182"/>
            <a:ext cx="227132" cy="224036"/>
          </a:xfrm>
          <a:prstGeom prst="rect">
            <a:avLst/>
          </a:prstGeom>
        </p:spPr>
        <p:txBody>
          <a:bodyPr wrap="square" lIns="0" tIns="0" rIns="0" bIns="0" rtlCol="0" anchor="t">
            <a:spAutoFit/>
          </a:bodyPr>
          <a:lstStyle/>
          <a:p>
            <a:pPr algn="ctr">
              <a:lnSpc>
                <a:spcPts val="1120"/>
              </a:lnSpc>
              <a:spcBef>
                <a:spcPct val="0"/>
              </a:spcBef>
            </a:pPr>
            <a:r>
              <a:rPr lang="vi-VN" sz="4047" b="1" noProof="1">
                <a:latin typeface="Century Gothic Paneuropean Bold" panose="020B0604020202020204" charset="0"/>
                <a:ea typeface="Open Sans Bold"/>
                <a:cs typeface="Century Gothic Paneuropean Bold" panose="020B0604020202020204" charset="0"/>
                <a:sym typeface="Open Sans Bold"/>
              </a:rPr>
              <a:t>1</a:t>
            </a:r>
          </a:p>
        </p:txBody>
      </p:sp>
      <p:grpSp>
        <p:nvGrpSpPr>
          <p:cNvPr id="26" name="Group 25">
            <a:extLst>
              <a:ext uri="{FF2B5EF4-FFF2-40B4-BE49-F238E27FC236}">
                <a16:creationId xmlns:a16="http://schemas.microsoft.com/office/drawing/2014/main" id="{B4D214A9-D125-748A-5156-AB3D7B84AFD2}"/>
              </a:ext>
            </a:extLst>
          </p:cNvPr>
          <p:cNvGrpSpPr/>
          <p:nvPr/>
        </p:nvGrpSpPr>
        <p:grpSpPr>
          <a:xfrm>
            <a:off x="2706325" y="426891"/>
            <a:ext cx="697275" cy="702470"/>
            <a:chOff x="-150977" y="38100"/>
            <a:chExt cx="887577" cy="916704"/>
          </a:xfrm>
        </p:grpSpPr>
        <p:sp>
          <p:nvSpPr>
            <p:cNvPr id="27" name="Freeform 26">
              <a:extLst>
                <a:ext uri="{FF2B5EF4-FFF2-40B4-BE49-F238E27FC236}">
                  <a16:creationId xmlns:a16="http://schemas.microsoft.com/office/drawing/2014/main" id="{1A4C7144-CC26-3E02-F144-D5ACFE9B01FE}"/>
                </a:ext>
              </a:extLst>
            </p:cNvPr>
            <p:cNvSpPr/>
            <p:nvPr/>
          </p:nvSpPr>
          <p:spPr>
            <a:xfrm>
              <a:off x="-150977" y="14200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28" name="TextBox 27">
              <a:extLst>
                <a:ext uri="{FF2B5EF4-FFF2-40B4-BE49-F238E27FC236}">
                  <a16:creationId xmlns:a16="http://schemas.microsoft.com/office/drawing/2014/main" id="{F593B57F-D5DF-B0F3-8FF0-191D94DF4AD5}"/>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9" name="TextBox 28">
            <a:extLst>
              <a:ext uri="{FF2B5EF4-FFF2-40B4-BE49-F238E27FC236}">
                <a16:creationId xmlns:a16="http://schemas.microsoft.com/office/drawing/2014/main" id="{91F51623-5BD4-DE90-6C68-F3819823F6C8}"/>
              </a:ext>
            </a:extLst>
          </p:cNvPr>
          <p:cNvSpPr txBox="1"/>
          <p:nvPr/>
        </p:nvSpPr>
        <p:spPr>
          <a:xfrm>
            <a:off x="2725004" y="890612"/>
            <a:ext cx="601173" cy="239746"/>
          </a:xfrm>
          <a:prstGeom prst="rect">
            <a:avLst/>
          </a:prstGeom>
        </p:spPr>
        <p:txBody>
          <a:bodyPr wrap="square" lIns="0" tIns="0" rIns="0" bIns="0" rtlCol="0" anchor="t">
            <a:spAutoFit/>
          </a:bodyPr>
          <a:lstStyle/>
          <a:p>
            <a:pPr algn="ctr">
              <a:lnSpc>
                <a:spcPts val="1120"/>
              </a:lnSpc>
              <a:spcBef>
                <a:spcPct val="0"/>
              </a:spcBef>
            </a:pPr>
            <a:r>
              <a:rPr lang="vi-VN" sz="4047" b="1" noProof="1">
                <a:latin typeface="Open Sans Bold"/>
                <a:ea typeface="Open Sans Bold"/>
                <a:cs typeface="Open Sans Bold"/>
                <a:sym typeface="Open Sans Bold"/>
              </a:rPr>
              <a:t>0</a:t>
            </a:r>
            <a:r>
              <a:rPr lang="en-US" sz="4047" b="1" noProof="1">
                <a:latin typeface="Open Sans Bold"/>
                <a:ea typeface="Open Sans Bold"/>
                <a:cs typeface="Open Sans Bold"/>
                <a:sym typeface="Open Sans Bold"/>
              </a:rPr>
              <a:t>2</a:t>
            </a:r>
            <a:endParaRPr lang="vi-VN" sz="4047" b="1" noProof="1">
              <a:latin typeface="Open Sans Bold"/>
              <a:ea typeface="Open Sans Bold"/>
              <a:cs typeface="Open Sans Bold"/>
              <a:sym typeface="Open Sans Bold"/>
            </a:endParaRPr>
          </a:p>
        </p:txBody>
      </p:sp>
      <p:sp>
        <p:nvSpPr>
          <p:cNvPr id="30" name="TextBox 29">
            <a:extLst>
              <a:ext uri="{FF2B5EF4-FFF2-40B4-BE49-F238E27FC236}">
                <a16:creationId xmlns:a16="http://schemas.microsoft.com/office/drawing/2014/main" id="{2192A388-255A-1B2C-7D48-57CB9A780B67}"/>
              </a:ext>
            </a:extLst>
          </p:cNvPr>
          <p:cNvSpPr txBox="1"/>
          <p:nvPr/>
        </p:nvSpPr>
        <p:spPr>
          <a:xfrm>
            <a:off x="680330" y="2022330"/>
            <a:ext cx="10831340" cy="800219"/>
          </a:xfrm>
          <a:prstGeom prst="rect">
            <a:avLst/>
          </a:prstGeom>
          <a:noFill/>
        </p:spPr>
        <p:txBody>
          <a:bodyPr wrap="square">
            <a:spAutoFit/>
          </a:bodyPr>
          <a:lstStyle/>
          <a:p>
            <a:pPr marL="304815" marR="0" lvl="0" indent="-304815"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vi-VN" sz="2300" b="0" i="0" u="none" strike="noStrike" kern="1200" cap="none" spc="0" normalizeH="0" baseline="0" noProof="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Reactive Programming là một mô hình lập trình tập trung vào luồng dữ liệu (data streams) và sự lan truyền của thay đổi (propagation of change).</a:t>
            </a:r>
          </a:p>
        </p:txBody>
      </p:sp>
      <p:pic>
        <p:nvPicPr>
          <p:cNvPr id="31" name="Picture 30">
            <a:extLst>
              <a:ext uri="{FF2B5EF4-FFF2-40B4-BE49-F238E27FC236}">
                <a16:creationId xmlns:a16="http://schemas.microsoft.com/office/drawing/2014/main" id="{E1642F6D-4178-4858-6315-1F065784B46E}"/>
              </a:ext>
            </a:extLst>
          </p:cNvPr>
          <p:cNvPicPr>
            <a:picLocks noChangeAspect="1"/>
          </p:cNvPicPr>
          <p:nvPr/>
        </p:nvPicPr>
        <p:blipFill>
          <a:blip r:embed="rId3"/>
          <a:stretch>
            <a:fillRect/>
          </a:stretch>
        </p:blipFill>
        <p:spPr>
          <a:xfrm>
            <a:off x="795963" y="3242411"/>
            <a:ext cx="4858428" cy="3381847"/>
          </a:xfrm>
          <a:prstGeom prst="rect">
            <a:avLst/>
          </a:prstGeom>
        </p:spPr>
      </p:pic>
      <p:pic>
        <p:nvPicPr>
          <p:cNvPr id="32" name="Picture 31">
            <a:extLst>
              <a:ext uri="{FF2B5EF4-FFF2-40B4-BE49-F238E27FC236}">
                <a16:creationId xmlns:a16="http://schemas.microsoft.com/office/drawing/2014/main" id="{BFD1020F-490F-6C0A-6BC3-B4106904848A}"/>
              </a:ext>
            </a:extLst>
          </p:cNvPr>
          <p:cNvPicPr>
            <a:picLocks noChangeAspect="1"/>
          </p:cNvPicPr>
          <p:nvPr/>
        </p:nvPicPr>
        <p:blipFill>
          <a:blip r:embed="rId4"/>
          <a:stretch>
            <a:fillRect/>
          </a:stretch>
        </p:blipFill>
        <p:spPr>
          <a:xfrm>
            <a:off x="6537611" y="3242411"/>
            <a:ext cx="4734586" cy="3238952"/>
          </a:xfrm>
          <a:prstGeom prst="rect">
            <a:avLst/>
          </a:prstGeom>
        </p:spPr>
      </p:pic>
      <p:sp>
        <p:nvSpPr>
          <p:cNvPr id="9" name="Chỗ dành sẵn cho Số hiệu Bản chiếu 8">
            <a:extLst>
              <a:ext uri="{FF2B5EF4-FFF2-40B4-BE49-F238E27FC236}">
                <a16:creationId xmlns:a16="http://schemas.microsoft.com/office/drawing/2014/main" id="{EB634111-D575-7D28-C3FA-8B84441D6684}"/>
              </a:ext>
            </a:extLst>
          </p:cNvPr>
          <p:cNvSpPr>
            <a:spLocks noGrp="1"/>
          </p:cNvSpPr>
          <p:nvPr>
            <p:ph type="sldNum" sz="quarter" idx="12"/>
          </p:nvPr>
        </p:nvSpPr>
        <p:spPr/>
        <p:txBody>
          <a:bodyPr/>
          <a:lstStyle/>
          <a:p>
            <a:fld id="{47EAD358-37BE-4FE3-9163-1C89D475336D}" type="slidenum">
              <a:rPr lang="en-AE" smtClean="0"/>
              <a:t>7</a:t>
            </a:fld>
            <a:endParaRPr lang="en-AE"/>
          </a:p>
        </p:txBody>
      </p:sp>
    </p:spTree>
    <p:extLst>
      <p:ext uri="{BB962C8B-B14F-4D97-AF65-F5344CB8AC3E}">
        <p14:creationId xmlns:p14="http://schemas.microsoft.com/office/powerpoint/2010/main" val="3784582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C459-6434-F3D5-1774-686FCDF30615}"/>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89AF8238-5037-CD23-E660-07A6014724E4}"/>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D6D8042A-FED8-2FD1-CFBC-723261CD40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16" name="TextBox 16">
              <a:extLst>
                <a:ext uri="{FF2B5EF4-FFF2-40B4-BE49-F238E27FC236}">
                  <a16:creationId xmlns:a16="http://schemas.microsoft.com/office/drawing/2014/main" id="{7FB5536A-84F5-1FCC-73D7-3AF398F03686}"/>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pic>
        <p:nvPicPr>
          <p:cNvPr id="1026" name="Picture 2" descr="KHOA ĐIỆN TỬ VIỄN THÔNG">
            <a:extLst>
              <a:ext uri="{FF2B5EF4-FFF2-40B4-BE49-F238E27FC236}">
                <a16:creationId xmlns:a16="http://schemas.microsoft.com/office/drawing/2014/main" id="{BDA0C4CD-EF28-D1FE-0CA0-055E456C6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pic>
        <p:nvPicPr>
          <p:cNvPr id="2" name="Hình ảnh 1" descr="Ảnh có chứa văn bản, ảnh chụp màn hình, Phông chữ, số&#10;&#10;Nội dung do AI tạo ra có thể không chính xác.">
            <a:extLst>
              <a:ext uri="{FF2B5EF4-FFF2-40B4-BE49-F238E27FC236}">
                <a16:creationId xmlns:a16="http://schemas.microsoft.com/office/drawing/2014/main" id="{E9AC909C-8F99-920C-70F1-220149293FAB}"/>
              </a:ext>
            </a:extLst>
          </p:cNvPr>
          <p:cNvPicPr>
            <a:picLocks noChangeAspect="1"/>
          </p:cNvPicPr>
          <p:nvPr/>
        </p:nvPicPr>
        <p:blipFill>
          <a:blip r:embed="rId3"/>
          <a:stretch>
            <a:fillRect/>
          </a:stretch>
        </p:blipFill>
        <p:spPr>
          <a:xfrm>
            <a:off x="3656452" y="1600452"/>
            <a:ext cx="4986794" cy="5136371"/>
          </a:xfrm>
          <a:prstGeom prst="rect">
            <a:avLst/>
          </a:prstGeom>
        </p:spPr>
      </p:pic>
      <p:grpSp>
        <p:nvGrpSpPr>
          <p:cNvPr id="28" name="Group 18">
            <a:extLst>
              <a:ext uri="{FF2B5EF4-FFF2-40B4-BE49-F238E27FC236}">
                <a16:creationId xmlns:a16="http://schemas.microsoft.com/office/drawing/2014/main" id="{95DE19F0-7B17-8FDE-A3CE-FE0E4887DA4D}"/>
              </a:ext>
            </a:extLst>
          </p:cNvPr>
          <p:cNvGrpSpPr/>
          <p:nvPr/>
        </p:nvGrpSpPr>
        <p:grpSpPr>
          <a:xfrm>
            <a:off x="5721839" y="1239691"/>
            <a:ext cx="653967" cy="66042"/>
            <a:chOff x="0" y="0"/>
            <a:chExt cx="258358" cy="26091"/>
          </a:xfrm>
        </p:grpSpPr>
        <p:sp>
          <p:nvSpPr>
            <p:cNvPr id="29" name="Freeform 19">
              <a:extLst>
                <a:ext uri="{FF2B5EF4-FFF2-40B4-BE49-F238E27FC236}">
                  <a16:creationId xmlns:a16="http://schemas.microsoft.com/office/drawing/2014/main" id="{F2734C86-F29C-5EBD-2B95-721B65578F72}"/>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30" name="TextBox 20">
              <a:extLst>
                <a:ext uri="{FF2B5EF4-FFF2-40B4-BE49-F238E27FC236}">
                  <a16:creationId xmlns:a16="http://schemas.microsoft.com/office/drawing/2014/main" id="{F104BEF7-4C70-E4E8-171C-C1249413AEF3}"/>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31" name="Group 21">
            <a:extLst>
              <a:ext uri="{FF2B5EF4-FFF2-40B4-BE49-F238E27FC236}">
                <a16:creationId xmlns:a16="http://schemas.microsoft.com/office/drawing/2014/main" id="{57183291-AC4A-DB53-A57D-02D991EB0FA8}"/>
              </a:ext>
            </a:extLst>
          </p:cNvPr>
          <p:cNvGrpSpPr/>
          <p:nvPr/>
        </p:nvGrpSpPr>
        <p:grpSpPr>
          <a:xfrm>
            <a:off x="6404120" y="1239691"/>
            <a:ext cx="66042" cy="66042"/>
            <a:chOff x="0" y="0"/>
            <a:chExt cx="812800" cy="812800"/>
          </a:xfrm>
        </p:grpSpPr>
        <p:sp>
          <p:nvSpPr>
            <p:cNvPr id="32" name="Freeform 22">
              <a:extLst>
                <a:ext uri="{FF2B5EF4-FFF2-40B4-BE49-F238E27FC236}">
                  <a16:creationId xmlns:a16="http://schemas.microsoft.com/office/drawing/2014/main" id="{F3315440-9D7B-98A2-6D25-951EB66F02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33" name="TextBox 23">
              <a:extLst>
                <a:ext uri="{FF2B5EF4-FFF2-40B4-BE49-F238E27FC236}">
                  <a16:creationId xmlns:a16="http://schemas.microsoft.com/office/drawing/2014/main" id="{4CA8611B-2116-3EFB-79EF-36011E53CC7E}"/>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34" name="TextBox 24">
            <a:extLst>
              <a:ext uri="{FF2B5EF4-FFF2-40B4-BE49-F238E27FC236}">
                <a16:creationId xmlns:a16="http://schemas.microsoft.com/office/drawing/2014/main" id="{BEC54C73-909A-8B49-4511-DFD81691C7F0}"/>
              </a:ext>
            </a:extLst>
          </p:cNvPr>
          <p:cNvSpPr txBox="1"/>
          <p:nvPr/>
        </p:nvSpPr>
        <p:spPr>
          <a:xfrm>
            <a:off x="3175000" y="731691"/>
            <a:ext cx="5842000" cy="368178"/>
          </a:xfrm>
          <a:prstGeom prst="rect">
            <a:avLst/>
          </a:prstGeom>
        </p:spPr>
        <p:txBody>
          <a:bodyPr wrap="square" lIns="0" tIns="0" rIns="0" bIns="0" rtlCol="0" anchor="t">
            <a:spAutoFit/>
          </a:bodyPr>
          <a:lstStyle/>
          <a:p>
            <a:pPr algn="ctr">
              <a:lnSpc>
                <a:spcPts val="2613"/>
              </a:lnSpc>
            </a:pPr>
            <a:r>
              <a:rPr lang="vi-VN" sz="4047" noProof="1">
                <a:latin typeface="Arial" panose="020B0604020202020204" pitchFamily="34" charset="0"/>
                <a:ea typeface="Open Sans"/>
                <a:cs typeface="Arial" panose="020B0604020202020204" pitchFamily="34" charset="0"/>
                <a:sym typeface="Open Sans"/>
              </a:rPr>
              <a:t>Reactive programming</a:t>
            </a:r>
          </a:p>
        </p:txBody>
      </p:sp>
      <p:sp>
        <p:nvSpPr>
          <p:cNvPr id="35" name="TextBox 28">
            <a:extLst>
              <a:ext uri="{FF2B5EF4-FFF2-40B4-BE49-F238E27FC236}">
                <a16:creationId xmlns:a16="http://schemas.microsoft.com/office/drawing/2014/main" id="{12840A32-F9DD-B4D5-C522-36CC0B5389E6}"/>
              </a:ext>
            </a:extLst>
          </p:cNvPr>
          <p:cNvSpPr txBox="1"/>
          <p:nvPr/>
        </p:nvSpPr>
        <p:spPr>
          <a:xfrm>
            <a:off x="3123905" y="874182"/>
            <a:ext cx="227132" cy="224036"/>
          </a:xfrm>
          <a:prstGeom prst="rect">
            <a:avLst/>
          </a:prstGeom>
        </p:spPr>
        <p:txBody>
          <a:bodyPr wrap="square" lIns="0" tIns="0" rIns="0" bIns="0" rtlCol="0" anchor="t">
            <a:spAutoFit/>
          </a:bodyPr>
          <a:lstStyle/>
          <a:p>
            <a:pPr algn="ctr">
              <a:lnSpc>
                <a:spcPts val="1120"/>
              </a:lnSpc>
              <a:spcBef>
                <a:spcPct val="0"/>
              </a:spcBef>
            </a:pPr>
            <a:r>
              <a:rPr lang="vi-VN" sz="4047" b="1" noProof="1">
                <a:latin typeface="Century Gothic Paneuropean Bold" panose="020B0604020202020204" charset="0"/>
                <a:ea typeface="Open Sans Bold"/>
                <a:cs typeface="Century Gothic Paneuropean Bold" panose="020B0604020202020204" charset="0"/>
                <a:sym typeface="Open Sans Bold"/>
              </a:rPr>
              <a:t>1</a:t>
            </a:r>
          </a:p>
        </p:txBody>
      </p:sp>
      <p:grpSp>
        <p:nvGrpSpPr>
          <p:cNvPr id="36" name="Group 35">
            <a:extLst>
              <a:ext uri="{FF2B5EF4-FFF2-40B4-BE49-F238E27FC236}">
                <a16:creationId xmlns:a16="http://schemas.microsoft.com/office/drawing/2014/main" id="{59329B38-CAA8-AC9B-EB22-199FEAF5C7C3}"/>
              </a:ext>
            </a:extLst>
          </p:cNvPr>
          <p:cNvGrpSpPr/>
          <p:nvPr/>
        </p:nvGrpSpPr>
        <p:grpSpPr>
          <a:xfrm>
            <a:off x="2706325" y="426891"/>
            <a:ext cx="697275" cy="702470"/>
            <a:chOff x="-150977" y="38100"/>
            <a:chExt cx="887577" cy="916704"/>
          </a:xfrm>
        </p:grpSpPr>
        <p:sp>
          <p:nvSpPr>
            <p:cNvPr id="37" name="Freeform 26">
              <a:extLst>
                <a:ext uri="{FF2B5EF4-FFF2-40B4-BE49-F238E27FC236}">
                  <a16:creationId xmlns:a16="http://schemas.microsoft.com/office/drawing/2014/main" id="{50455FDE-FF9F-4C7F-D92F-3D221D45E361}"/>
                </a:ext>
              </a:extLst>
            </p:cNvPr>
            <p:cNvSpPr/>
            <p:nvPr/>
          </p:nvSpPr>
          <p:spPr>
            <a:xfrm>
              <a:off x="-150977" y="14200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38" name="TextBox 37">
              <a:extLst>
                <a:ext uri="{FF2B5EF4-FFF2-40B4-BE49-F238E27FC236}">
                  <a16:creationId xmlns:a16="http://schemas.microsoft.com/office/drawing/2014/main" id="{1C797C71-067E-24DD-4D2D-10F959AC6C3C}"/>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39" name="TextBox 38">
            <a:extLst>
              <a:ext uri="{FF2B5EF4-FFF2-40B4-BE49-F238E27FC236}">
                <a16:creationId xmlns:a16="http://schemas.microsoft.com/office/drawing/2014/main" id="{6402B00B-F965-3B8F-C94F-00A763969098}"/>
              </a:ext>
            </a:extLst>
          </p:cNvPr>
          <p:cNvSpPr txBox="1"/>
          <p:nvPr/>
        </p:nvSpPr>
        <p:spPr>
          <a:xfrm>
            <a:off x="2725004" y="890612"/>
            <a:ext cx="601173" cy="239746"/>
          </a:xfrm>
          <a:prstGeom prst="rect">
            <a:avLst/>
          </a:prstGeom>
        </p:spPr>
        <p:txBody>
          <a:bodyPr wrap="square" lIns="0" tIns="0" rIns="0" bIns="0" rtlCol="0" anchor="t">
            <a:spAutoFit/>
          </a:bodyPr>
          <a:lstStyle/>
          <a:p>
            <a:pPr algn="ctr">
              <a:lnSpc>
                <a:spcPts val="1120"/>
              </a:lnSpc>
              <a:spcBef>
                <a:spcPct val="0"/>
              </a:spcBef>
            </a:pPr>
            <a:r>
              <a:rPr lang="vi-VN" sz="4047" b="1" noProof="1">
                <a:latin typeface="Open Sans Bold"/>
                <a:ea typeface="Open Sans Bold"/>
                <a:cs typeface="Open Sans Bold"/>
                <a:sym typeface="Open Sans Bold"/>
              </a:rPr>
              <a:t>0</a:t>
            </a:r>
            <a:r>
              <a:rPr lang="en-US" sz="4047" b="1" noProof="1">
                <a:latin typeface="Open Sans Bold"/>
                <a:ea typeface="Open Sans Bold"/>
                <a:cs typeface="Open Sans Bold"/>
                <a:sym typeface="Open Sans Bold"/>
              </a:rPr>
              <a:t>2</a:t>
            </a:r>
            <a:endParaRPr lang="vi-VN" sz="4047" b="1" noProof="1">
              <a:latin typeface="Open Sans Bold"/>
              <a:ea typeface="Open Sans Bold"/>
              <a:cs typeface="Open Sans Bold"/>
              <a:sym typeface="Open Sans Bold"/>
            </a:endParaRPr>
          </a:p>
        </p:txBody>
      </p:sp>
      <p:sp>
        <p:nvSpPr>
          <p:cNvPr id="4" name="Chỗ dành sẵn cho Số hiệu Bản chiếu 3">
            <a:extLst>
              <a:ext uri="{FF2B5EF4-FFF2-40B4-BE49-F238E27FC236}">
                <a16:creationId xmlns:a16="http://schemas.microsoft.com/office/drawing/2014/main" id="{D19BE3D9-CAEB-A582-8C6A-0C6F21EEAB62}"/>
              </a:ext>
            </a:extLst>
          </p:cNvPr>
          <p:cNvSpPr>
            <a:spLocks noGrp="1"/>
          </p:cNvSpPr>
          <p:nvPr>
            <p:ph type="sldNum" sz="quarter" idx="12"/>
          </p:nvPr>
        </p:nvSpPr>
        <p:spPr/>
        <p:txBody>
          <a:bodyPr/>
          <a:lstStyle/>
          <a:p>
            <a:fld id="{47EAD358-37BE-4FE3-9163-1C89D475336D}" type="slidenum">
              <a:rPr lang="en-AE" smtClean="0"/>
              <a:t>8</a:t>
            </a:fld>
            <a:endParaRPr lang="en-AE"/>
          </a:p>
        </p:txBody>
      </p:sp>
    </p:spTree>
    <p:extLst>
      <p:ext uri="{BB962C8B-B14F-4D97-AF65-F5344CB8AC3E}">
        <p14:creationId xmlns:p14="http://schemas.microsoft.com/office/powerpoint/2010/main" val="3318381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46AD-4DE0-57C9-DAE1-BAB73217932A}"/>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5F6589CA-0610-090A-07DE-2FC8B8835A0A}"/>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747CD892-652E-FA94-DCFC-295CA30DF5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16" name="TextBox 16">
              <a:extLst>
                <a:ext uri="{FF2B5EF4-FFF2-40B4-BE49-F238E27FC236}">
                  <a16:creationId xmlns:a16="http://schemas.microsoft.com/office/drawing/2014/main" id="{4B8436AB-5641-692B-AA5E-711A8DF12B13}"/>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pic>
        <p:nvPicPr>
          <p:cNvPr id="1026" name="Picture 2" descr="KHOA ĐIỆN TỬ VIỄN THÔNG">
            <a:extLst>
              <a:ext uri="{FF2B5EF4-FFF2-40B4-BE49-F238E27FC236}">
                <a16:creationId xmlns:a16="http://schemas.microsoft.com/office/drawing/2014/main" id="{5C33CE49-32A3-70C1-4F44-9EF46AD2A9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pic>
        <p:nvPicPr>
          <p:cNvPr id="3" name="Hình ảnh 1" descr="Ảnh có chứa văn bản, ảnh chụp màn hình, thiết kế&#10;&#10;Nội dung do AI tạo ra có thể không chính xác.">
            <a:extLst>
              <a:ext uri="{FF2B5EF4-FFF2-40B4-BE49-F238E27FC236}">
                <a16:creationId xmlns:a16="http://schemas.microsoft.com/office/drawing/2014/main" id="{AC95E85B-5F1B-A229-8760-F3CD688E07E8}"/>
              </a:ext>
            </a:extLst>
          </p:cNvPr>
          <p:cNvPicPr>
            <a:picLocks noChangeAspect="1"/>
          </p:cNvPicPr>
          <p:nvPr/>
        </p:nvPicPr>
        <p:blipFill>
          <a:blip r:embed="rId3"/>
          <a:stretch>
            <a:fillRect/>
          </a:stretch>
        </p:blipFill>
        <p:spPr>
          <a:xfrm>
            <a:off x="2695104" y="1576602"/>
            <a:ext cx="2563066" cy="5110148"/>
          </a:xfrm>
          <a:prstGeom prst="rect">
            <a:avLst/>
          </a:prstGeom>
        </p:spPr>
      </p:pic>
      <p:pic>
        <p:nvPicPr>
          <p:cNvPr id="4" name="Hình ảnh 1" descr="Ảnh có chứa văn bản, ảnh chụp màn hình, thiết kế&#10;&#10;Nội dung do AI tạo ra có thể không chính xác.">
            <a:extLst>
              <a:ext uri="{FF2B5EF4-FFF2-40B4-BE49-F238E27FC236}">
                <a16:creationId xmlns:a16="http://schemas.microsoft.com/office/drawing/2014/main" id="{AD1018A0-8C15-ED12-ED88-F47746BAB65F}"/>
              </a:ext>
            </a:extLst>
          </p:cNvPr>
          <p:cNvPicPr>
            <a:picLocks noChangeAspect="1"/>
          </p:cNvPicPr>
          <p:nvPr/>
        </p:nvPicPr>
        <p:blipFill>
          <a:blip r:embed="rId4"/>
          <a:stretch>
            <a:fillRect/>
          </a:stretch>
        </p:blipFill>
        <p:spPr>
          <a:xfrm>
            <a:off x="6933832" y="1576602"/>
            <a:ext cx="2504621" cy="5101900"/>
          </a:xfrm>
          <a:prstGeom prst="rect">
            <a:avLst/>
          </a:prstGeom>
        </p:spPr>
      </p:pic>
      <p:grpSp>
        <p:nvGrpSpPr>
          <p:cNvPr id="27" name="Group 18">
            <a:extLst>
              <a:ext uri="{FF2B5EF4-FFF2-40B4-BE49-F238E27FC236}">
                <a16:creationId xmlns:a16="http://schemas.microsoft.com/office/drawing/2014/main" id="{182672B0-F478-6EBC-3AB3-09C8A2C7F931}"/>
              </a:ext>
            </a:extLst>
          </p:cNvPr>
          <p:cNvGrpSpPr/>
          <p:nvPr/>
        </p:nvGrpSpPr>
        <p:grpSpPr>
          <a:xfrm>
            <a:off x="5721839" y="1239691"/>
            <a:ext cx="653967" cy="66042"/>
            <a:chOff x="0" y="0"/>
            <a:chExt cx="258358" cy="26091"/>
          </a:xfrm>
        </p:grpSpPr>
        <p:sp>
          <p:nvSpPr>
            <p:cNvPr id="28" name="Freeform 19">
              <a:extLst>
                <a:ext uri="{FF2B5EF4-FFF2-40B4-BE49-F238E27FC236}">
                  <a16:creationId xmlns:a16="http://schemas.microsoft.com/office/drawing/2014/main" id="{360A12F0-FD02-A715-10B6-FEF7F7706417}"/>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29" name="TextBox 20">
              <a:extLst>
                <a:ext uri="{FF2B5EF4-FFF2-40B4-BE49-F238E27FC236}">
                  <a16:creationId xmlns:a16="http://schemas.microsoft.com/office/drawing/2014/main" id="{88E32A29-DE01-5820-915E-E12FF4362A61}"/>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30" name="Group 21">
            <a:extLst>
              <a:ext uri="{FF2B5EF4-FFF2-40B4-BE49-F238E27FC236}">
                <a16:creationId xmlns:a16="http://schemas.microsoft.com/office/drawing/2014/main" id="{50FC8DEB-3C7C-E425-7F22-0648B1B0F361}"/>
              </a:ext>
            </a:extLst>
          </p:cNvPr>
          <p:cNvGrpSpPr/>
          <p:nvPr/>
        </p:nvGrpSpPr>
        <p:grpSpPr>
          <a:xfrm>
            <a:off x="6404120" y="1239691"/>
            <a:ext cx="66042" cy="66042"/>
            <a:chOff x="0" y="0"/>
            <a:chExt cx="812800" cy="812800"/>
          </a:xfrm>
        </p:grpSpPr>
        <p:sp>
          <p:nvSpPr>
            <p:cNvPr id="31" name="Freeform 22">
              <a:extLst>
                <a:ext uri="{FF2B5EF4-FFF2-40B4-BE49-F238E27FC236}">
                  <a16:creationId xmlns:a16="http://schemas.microsoft.com/office/drawing/2014/main" id="{F917333E-9278-7822-DCD2-4437FFFDE8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32" name="TextBox 23">
              <a:extLst>
                <a:ext uri="{FF2B5EF4-FFF2-40B4-BE49-F238E27FC236}">
                  <a16:creationId xmlns:a16="http://schemas.microsoft.com/office/drawing/2014/main" id="{2754E451-B27C-D5D0-1942-A251F043B202}"/>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33" name="TextBox 24">
            <a:extLst>
              <a:ext uri="{FF2B5EF4-FFF2-40B4-BE49-F238E27FC236}">
                <a16:creationId xmlns:a16="http://schemas.microsoft.com/office/drawing/2014/main" id="{F1D7D2E4-07B0-3489-4CBC-CB39102D9308}"/>
              </a:ext>
            </a:extLst>
          </p:cNvPr>
          <p:cNvSpPr txBox="1"/>
          <p:nvPr/>
        </p:nvSpPr>
        <p:spPr>
          <a:xfrm>
            <a:off x="3175000" y="731691"/>
            <a:ext cx="5842000" cy="368178"/>
          </a:xfrm>
          <a:prstGeom prst="rect">
            <a:avLst/>
          </a:prstGeom>
        </p:spPr>
        <p:txBody>
          <a:bodyPr wrap="square" lIns="0" tIns="0" rIns="0" bIns="0" rtlCol="0" anchor="t">
            <a:spAutoFit/>
          </a:bodyPr>
          <a:lstStyle/>
          <a:p>
            <a:pPr algn="ctr">
              <a:lnSpc>
                <a:spcPts val="2613"/>
              </a:lnSpc>
            </a:pPr>
            <a:r>
              <a:rPr lang="vi-VN" sz="4047" noProof="1">
                <a:latin typeface="Arial" panose="020B0604020202020204" pitchFamily="34" charset="0"/>
                <a:ea typeface="Open Sans"/>
                <a:cs typeface="Arial" panose="020B0604020202020204" pitchFamily="34" charset="0"/>
                <a:sym typeface="Open Sans"/>
              </a:rPr>
              <a:t>Reactive programming</a:t>
            </a:r>
          </a:p>
        </p:txBody>
      </p:sp>
      <p:sp>
        <p:nvSpPr>
          <p:cNvPr id="34" name="TextBox 28">
            <a:extLst>
              <a:ext uri="{FF2B5EF4-FFF2-40B4-BE49-F238E27FC236}">
                <a16:creationId xmlns:a16="http://schemas.microsoft.com/office/drawing/2014/main" id="{4DE82D5E-8348-3863-6293-FF2AD7A2CEFB}"/>
              </a:ext>
            </a:extLst>
          </p:cNvPr>
          <p:cNvSpPr txBox="1"/>
          <p:nvPr/>
        </p:nvSpPr>
        <p:spPr>
          <a:xfrm>
            <a:off x="3123905" y="874182"/>
            <a:ext cx="227132" cy="224036"/>
          </a:xfrm>
          <a:prstGeom prst="rect">
            <a:avLst/>
          </a:prstGeom>
        </p:spPr>
        <p:txBody>
          <a:bodyPr wrap="square" lIns="0" tIns="0" rIns="0" bIns="0" rtlCol="0" anchor="t">
            <a:spAutoFit/>
          </a:bodyPr>
          <a:lstStyle/>
          <a:p>
            <a:pPr algn="ctr">
              <a:lnSpc>
                <a:spcPts val="1120"/>
              </a:lnSpc>
              <a:spcBef>
                <a:spcPct val="0"/>
              </a:spcBef>
            </a:pPr>
            <a:r>
              <a:rPr lang="vi-VN" sz="4047" b="1" noProof="1">
                <a:latin typeface="Century Gothic Paneuropean Bold" panose="020B0604020202020204" charset="0"/>
                <a:ea typeface="Open Sans Bold"/>
                <a:cs typeface="Century Gothic Paneuropean Bold" panose="020B0604020202020204" charset="0"/>
                <a:sym typeface="Open Sans Bold"/>
              </a:rPr>
              <a:t>1</a:t>
            </a:r>
          </a:p>
        </p:txBody>
      </p:sp>
      <p:grpSp>
        <p:nvGrpSpPr>
          <p:cNvPr id="35" name="Group 34">
            <a:extLst>
              <a:ext uri="{FF2B5EF4-FFF2-40B4-BE49-F238E27FC236}">
                <a16:creationId xmlns:a16="http://schemas.microsoft.com/office/drawing/2014/main" id="{3BA8A775-1A8B-401F-3992-154DD44BBE3D}"/>
              </a:ext>
            </a:extLst>
          </p:cNvPr>
          <p:cNvGrpSpPr/>
          <p:nvPr/>
        </p:nvGrpSpPr>
        <p:grpSpPr>
          <a:xfrm>
            <a:off x="2706325" y="426891"/>
            <a:ext cx="697275" cy="702470"/>
            <a:chOff x="-150977" y="38100"/>
            <a:chExt cx="887577" cy="916704"/>
          </a:xfrm>
        </p:grpSpPr>
        <p:sp>
          <p:nvSpPr>
            <p:cNvPr id="36" name="Freeform 26">
              <a:extLst>
                <a:ext uri="{FF2B5EF4-FFF2-40B4-BE49-F238E27FC236}">
                  <a16:creationId xmlns:a16="http://schemas.microsoft.com/office/drawing/2014/main" id="{5831D71A-3624-8ECB-4631-17F83A62615C}"/>
                </a:ext>
              </a:extLst>
            </p:cNvPr>
            <p:cNvSpPr/>
            <p:nvPr/>
          </p:nvSpPr>
          <p:spPr>
            <a:xfrm>
              <a:off x="-150977" y="142004"/>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37" name="TextBox 36">
              <a:extLst>
                <a:ext uri="{FF2B5EF4-FFF2-40B4-BE49-F238E27FC236}">
                  <a16:creationId xmlns:a16="http://schemas.microsoft.com/office/drawing/2014/main" id="{59DAF173-7113-EDF8-D95E-F032E5FAAB4D}"/>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38" name="TextBox 37">
            <a:extLst>
              <a:ext uri="{FF2B5EF4-FFF2-40B4-BE49-F238E27FC236}">
                <a16:creationId xmlns:a16="http://schemas.microsoft.com/office/drawing/2014/main" id="{F0257A44-25F1-8D91-FA06-6615EF84909E}"/>
              </a:ext>
            </a:extLst>
          </p:cNvPr>
          <p:cNvSpPr txBox="1"/>
          <p:nvPr/>
        </p:nvSpPr>
        <p:spPr>
          <a:xfrm>
            <a:off x="2725004" y="890612"/>
            <a:ext cx="601173" cy="239746"/>
          </a:xfrm>
          <a:prstGeom prst="rect">
            <a:avLst/>
          </a:prstGeom>
        </p:spPr>
        <p:txBody>
          <a:bodyPr wrap="square" lIns="0" tIns="0" rIns="0" bIns="0" rtlCol="0" anchor="t">
            <a:spAutoFit/>
          </a:bodyPr>
          <a:lstStyle/>
          <a:p>
            <a:pPr algn="ctr">
              <a:lnSpc>
                <a:spcPts val="1120"/>
              </a:lnSpc>
              <a:spcBef>
                <a:spcPct val="0"/>
              </a:spcBef>
            </a:pPr>
            <a:r>
              <a:rPr lang="vi-VN" sz="4047" b="1" noProof="1">
                <a:latin typeface="Open Sans Bold"/>
                <a:ea typeface="Open Sans Bold"/>
                <a:cs typeface="Open Sans Bold"/>
                <a:sym typeface="Open Sans Bold"/>
              </a:rPr>
              <a:t>0</a:t>
            </a:r>
            <a:r>
              <a:rPr lang="en-US" sz="4047" b="1" noProof="1">
                <a:latin typeface="Open Sans Bold"/>
                <a:ea typeface="Open Sans Bold"/>
                <a:cs typeface="Open Sans Bold"/>
                <a:sym typeface="Open Sans Bold"/>
              </a:rPr>
              <a:t>2</a:t>
            </a:r>
            <a:endParaRPr lang="vi-VN" sz="4047" b="1" noProof="1">
              <a:latin typeface="Open Sans Bold"/>
              <a:ea typeface="Open Sans Bold"/>
              <a:cs typeface="Open Sans Bold"/>
              <a:sym typeface="Open Sans Bold"/>
            </a:endParaRPr>
          </a:p>
        </p:txBody>
      </p:sp>
      <p:sp>
        <p:nvSpPr>
          <p:cNvPr id="5" name="Chỗ dành sẵn cho Số hiệu Bản chiếu 4">
            <a:extLst>
              <a:ext uri="{FF2B5EF4-FFF2-40B4-BE49-F238E27FC236}">
                <a16:creationId xmlns:a16="http://schemas.microsoft.com/office/drawing/2014/main" id="{AFB6E02D-EC19-0D64-B340-1371642698C5}"/>
              </a:ext>
            </a:extLst>
          </p:cNvPr>
          <p:cNvSpPr>
            <a:spLocks noGrp="1"/>
          </p:cNvSpPr>
          <p:nvPr>
            <p:ph type="sldNum" sz="quarter" idx="12"/>
          </p:nvPr>
        </p:nvSpPr>
        <p:spPr/>
        <p:txBody>
          <a:bodyPr/>
          <a:lstStyle/>
          <a:p>
            <a:fld id="{47EAD358-37BE-4FE3-9163-1C89D475336D}" type="slidenum">
              <a:rPr lang="en-AE" smtClean="0"/>
              <a:t>9</a:t>
            </a:fld>
            <a:endParaRPr lang="en-AE"/>
          </a:p>
        </p:txBody>
      </p:sp>
    </p:spTree>
    <p:extLst>
      <p:ext uri="{BB962C8B-B14F-4D97-AF65-F5344CB8AC3E}">
        <p14:creationId xmlns:p14="http://schemas.microsoft.com/office/powerpoint/2010/main" val="357710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12796-895E-A34A-1875-1D45B363F89A}"/>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2340BBD4-5A05-69B0-F07D-C3D00333F4A2}"/>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A46CA009-05BF-1AB7-3ED3-75F9284DBD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16" name="TextBox 16">
              <a:extLst>
                <a:ext uri="{FF2B5EF4-FFF2-40B4-BE49-F238E27FC236}">
                  <a16:creationId xmlns:a16="http://schemas.microsoft.com/office/drawing/2014/main" id="{F4046D47-1D1F-DA7A-A9A2-FBA4FAF569ED}"/>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pic>
        <p:nvPicPr>
          <p:cNvPr id="1026" name="Picture 2" descr="KHOA ĐIỆN TỬ VIỄN THÔNG">
            <a:extLst>
              <a:ext uri="{FF2B5EF4-FFF2-40B4-BE49-F238E27FC236}">
                <a16:creationId xmlns:a16="http://schemas.microsoft.com/office/drawing/2014/main" id="{61DBC025-5404-2126-C926-E1554F0DD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17">
            <a:extLst>
              <a:ext uri="{FF2B5EF4-FFF2-40B4-BE49-F238E27FC236}">
                <a16:creationId xmlns:a16="http://schemas.microsoft.com/office/drawing/2014/main" id="{DDB2A665-FC7B-0E08-6054-3927683BBA73}"/>
              </a:ext>
            </a:extLst>
          </p:cNvPr>
          <p:cNvSpPr txBox="1"/>
          <p:nvPr/>
        </p:nvSpPr>
        <p:spPr>
          <a:xfrm>
            <a:off x="891928" y="923396"/>
            <a:ext cx="10408143" cy="1397370"/>
          </a:xfrm>
          <a:prstGeom prst="rect">
            <a:avLst/>
          </a:prstGeom>
        </p:spPr>
        <p:txBody>
          <a:bodyPr wrap="square"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III. Obx widget và dependency injection​</a:t>
            </a:r>
          </a:p>
          <a:p>
            <a:pPr algn="ctr">
              <a:lnSpc>
                <a:spcPts val="5667"/>
              </a:lnSpc>
              <a:spcBef>
                <a:spcPct val="0"/>
              </a:spcBef>
            </a:pPr>
            <a:endParaRPr lang="vi-VN" sz="4048" b="1" noProof="1">
              <a:latin typeface="Arial" panose="020B0604020202020204" pitchFamily="34" charset="0"/>
              <a:ea typeface="Century Gothic Paneuropean Bold"/>
              <a:cs typeface="Arial" panose="020B0604020202020204" pitchFamily="34" charset="0"/>
              <a:sym typeface="Century Gothic Paneuropean Bold"/>
            </a:endParaRPr>
          </a:p>
        </p:txBody>
      </p:sp>
      <p:grpSp>
        <p:nvGrpSpPr>
          <p:cNvPr id="10" name="Group 18">
            <a:extLst>
              <a:ext uri="{FF2B5EF4-FFF2-40B4-BE49-F238E27FC236}">
                <a16:creationId xmlns:a16="http://schemas.microsoft.com/office/drawing/2014/main" id="{6919C101-62F4-F7A5-9DB0-F3B3B452600D}"/>
              </a:ext>
            </a:extLst>
          </p:cNvPr>
          <p:cNvGrpSpPr/>
          <p:nvPr/>
        </p:nvGrpSpPr>
        <p:grpSpPr>
          <a:xfrm>
            <a:off x="5721839" y="1752600"/>
            <a:ext cx="653967" cy="66042"/>
            <a:chOff x="0" y="0"/>
            <a:chExt cx="258358" cy="26091"/>
          </a:xfrm>
        </p:grpSpPr>
        <p:sp>
          <p:nvSpPr>
            <p:cNvPr id="17" name="Freeform 19">
              <a:extLst>
                <a:ext uri="{FF2B5EF4-FFF2-40B4-BE49-F238E27FC236}">
                  <a16:creationId xmlns:a16="http://schemas.microsoft.com/office/drawing/2014/main" id="{C40A16F1-96EB-9E0A-4DDE-54762D4C66A1}"/>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18" name="TextBox 20">
              <a:extLst>
                <a:ext uri="{FF2B5EF4-FFF2-40B4-BE49-F238E27FC236}">
                  <a16:creationId xmlns:a16="http://schemas.microsoft.com/office/drawing/2014/main" id="{C56BA2E9-03F4-856E-9D08-64C6FC40C4F0}"/>
                </a:ext>
              </a:extLst>
            </p:cNvPr>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19" name="Group 21">
            <a:extLst>
              <a:ext uri="{FF2B5EF4-FFF2-40B4-BE49-F238E27FC236}">
                <a16:creationId xmlns:a16="http://schemas.microsoft.com/office/drawing/2014/main" id="{525E7497-8301-C8BB-2120-518BEAD08792}"/>
              </a:ext>
            </a:extLst>
          </p:cNvPr>
          <p:cNvGrpSpPr/>
          <p:nvPr/>
        </p:nvGrpSpPr>
        <p:grpSpPr>
          <a:xfrm>
            <a:off x="6515158" y="1747233"/>
            <a:ext cx="66042" cy="66042"/>
            <a:chOff x="0" y="0"/>
            <a:chExt cx="812800" cy="812800"/>
          </a:xfrm>
        </p:grpSpPr>
        <p:sp>
          <p:nvSpPr>
            <p:cNvPr id="20" name="Freeform 22">
              <a:extLst>
                <a:ext uri="{FF2B5EF4-FFF2-40B4-BE49-F238E27FC236}">
                  <a16:creationId xmlns:a16="http://schemas.microsoft.com/office/drawing/2014/main" id="{23F1B059-C4A8-BD97-0E08-5501F8CF14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1" name="TextBox 23">
              <a:extLst>
                <a:ext uri="{FF2B5EF4-FFF2-40B4-BE49-F238E27FC236}">
                  <a16:creationId xmlns:a16="http://schemas.microsoft.com/office/drawing/2014/main" id="{EEB2BC40-2A39-C748-3A16-07F93394AE7D}"/>
                </a:ext>
              </a:extLst>
            </p:cNvPr>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sp>
        <p:nvSpPr>
          <p:cNvPr id="22" name="TextBox 21">
            <a:extLst>
              <a:ext uri="{FF2B5EF4-FFF2-40B4-BE49-F238E27FC236}">
                <a16:creationId xmlns:a16="http://schemas.microsoft.com/office/drawing/2014/main" id="{6A5E6876-26B9-6F39-D8EE-7C656C241960}"/>
              </a:ext>
            </a:extLst>
          </p:cNvPr>
          <p:cNvSpPr txBox="1"/>
          <p:nvPr/>
        </p:nvSpPr>
        <p:spPr>
          <a:xfrm>
            <a:off x="699970" y="2637112"/>
            <a:ext cx="10831340" cy="1154162"/>
          </a:xfrm>
          <a:prstGeom prst="rect">
            <a:avLst/>
          </a:prstGeom>
          <a:noFill/>
        </p:spPr>
        <p:txBody>
          <a:bodyPr wrap="square">
            <a:spAutoFit/>
          </a:bodyPr>
          <a:lstStyle/>
          <a:p>
            <a:pPr marL="304815" lvl="0" indent="-304815">
              <a:buFont typeface="Wingdings" panose="05000000000000000000" pitchFamily="2" charset="2"/>
              <a:buChar char="v"/>
              <a:defRPr/>
            </a:pPr>
            <a:r>
              <a:rPr lang="vi-VN" sz="2300" b="1" noProof="1">
                <a:solidFill>
                  <a:prstClr val="black"/>
                </a:solidFill>
                <a:latin typeface="Open Sans" panose="020B0606030504020204" pitchFamily="34" charset="0"/>
                <a:ea typeface="Open Sans" panose="020B0606030504020204" pitchFamily="34" charset="0"/>
                <a:cs typeface="Open Sans" panose="020B0606030504020204" pitchFamily="34" charset="0"/>
              </a:rPr>
              <a:t>Obx</a:t>
            </a:r>
            <a:r>
              <a:rPr lang="vi-VN" sz="2300" noProof="1">
                <a:solidFill>
                  <a:prstClr val="black"/>
                </a:solidFill>
                <a:latin typeface="Open Sans" panose="020B0606030504020204" pitchFamily="34" charset="0"/>
                <a:ea typeface="Open Sans" panose="020B0606030504020204" pitchFamily="34" charset="0"/>
                <a:cs typeface="Open Sans" panose="020B0606030504020204" pitchFamily="34" charset="0"/>
              </a:rPr>
              <a:t> là một widget đặc biệt trong GetX dùng để tự động rebuild UI khi các biến reactive (.obs) thay đổi. Đây là cách đơn giản nhất để tạo reactive UI trong GetX.</a:t>
            </a:r>
          </a:p>
        </p:txBody>
      </p:sp>
      <p:sp>
        <p:nvSpPr>
          <p:cNvPr id="23" name="TextBox 22">
            <a:extLst>
              <a:ext uri="{FF2B5EF4-FFF2-40B4-BE49-F238E27FC236}">
                <a16:creationId xmlns:a16="http://schemas.microsoft.com/office/drawing/2014/main" id="{0C2DFF96-A967-59E0-21D7-BA0246262E37}"/>
              </a:ext>
            </a:extLst>
          </p:cNvPr>
          <p:cNvSpPr txBox="1"/>
          <p:nvPr/>
        </p:nvSpPr>
        <p:spPr>
          <a:xfrm>
            <a:off x="699970" y="4252154"/>
            <a:ext cx="10831340" cy="1154162"/>
          </a:xfrm>
          <a:prstGeom prst="rect">
            <a:avLst/>
          </a:prstGeom>
          <a:noFill/>
        </p:spPr>
        <p:txBody>
          <a:bodyPr wrap="square">
            <a:spAutoFit/>
          </a:bodyPr>
          <a:lstStyle/>
          <a:p>
            <a:pPr marL="304815" lvl="0" indent="-304815">
              <a:buFont typeface="Wingdings" panose="05000000000000000000" pitchFamily="2" charset="2"/>
              <a:buChar char="v"/>
              <a:defRPr/>
            </a:pPr>
            <a:r>
              <a:rPr lang="vi-VN" sz="2300" b="1" noProof="1">
                <a:solidFill>
                  <a:prstClr val="black"/>
                </a:solidFill>
                <a:latin typeface="Open Sans" panose="020B0606030504020204" pitchFamily="34" charset="0"/>
                <a:ea typeface="Open Sans" panose="020B0606030504020204" pitchFamily="34" charset="0"/>
                <a:cs typeface="Open Sans" panose="020B0606030504020204" pitchFamily="34" charset="0"/>
              </a:rPr>
              <a:t>Dependency Injection</a:t>
            </a:r>
            <a:r>
              <a:rPr lang="vi-VN" sz="2300" noProof="1">
                <a:solidFill>
                  <a:prstClr val="black"/>
                </a:solidFill>
                <a:latin typeface="Open Sans" panose="020B0606030504020204" pitchFamily="34" charset="0"/>
                <a:ea typeface="Open Sans" panose="020B0606030504020204" pitchFamily="34" charset="0"/>
                <a:cs typeface="Open Sans" panose="020B0606030504020204" pitchFamily="34" charset="0"/>
              </a:rPr>
              <a:t> là một design pattern cho phép bạn "tiêm" (inject) các dependencies (phụ thuộc) vào một class thay vì tạo chúng bên trong class đó. Điều này giúp code dễ test, dễ maintain và linh hoạt hơn.</a:t>
            </a:r>
          </a:p>
        </p:txBody>
      </p:sp>
      <p:sp>
        <p:nvSpPr>
          <p:cNvPr id="3" name="Chỗ dành sẵn cho Số hiệu Bản chiếu 2">
            <a:extLst>
              <a:ext uri="{FF2B5EF4-FFF2-40B4-BE49-F238E27FC236}">
                <a16:creationId xmlns:a16="http://schemas.microsoft.com/office/drawing/2014/main" id="{E439FE5A-C492-B9E6-9F2F-D45A385A16A6}"/>
              </a:ext>
            </a:extLst>
          </p:cNvPr>
          <p:cNvSpPr>
            <a:spLocks noGrp="1"/>
          </p:cNvSpPr>
          <p:nvPr>
            <p:ph type="sldNum" sz="quarter" idx="12"/>
          </p:nvPr>
        </p:nvSpPr>
        <p:spPr/>
        <p:txBody>
          <a:bodyPr/>
          <a:lstStyle/>
          <a:p>
            <a:fld id="{47EAD358-37BE-4FE3-9163-1C89D475336D}" type="slidenum">
              <a:rPr lang="en-AE" smtClean="0"/>
              <a:t>10</a:t>
            </a:fld>
            <a:endParaRPr lang="en-AE"/>
          </a:p>
        </p:txBody>
      </p:sp>
    </p:spTree>
    <p:extLst>
      <p:ext uri="{BB962C8B-B14F-4D97-AF65-F5344CB8AC3E}">
        <p14:creationId xmlns:p14="http://schemas.microsoft.com/office/powerpoint/2010/main" val="2915586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B6CD8-4BDE-25E2-18AC-599362CB117D}"/>
            </a:ext>
          </a:extLst>
        </p:cNvPr>
        <p:cNvGrpSpPr/>
        <p:nvPr/>
      </p:nvGrpSpPr>
      <p:grpSpPr>
        <a:xfrm>
          <a:off x="0" y="0"/>
          <a:ext cx="0" cy="0"/>
          <a:chOff x="0" y="0"/>
          <a:chExt cx="0" cy="0"/>
        </a:xfrm>
      </p:grpSpPr>
      <p:grpSp>
        <p:nvGrpSpPr>
          <p:cNvPr id="2" name="Group 14">
            <a:extLst>
              <a:ext uri="{FF2B5EF4-FFF2-40B4-BE49-F238E27FC236}">
                <a16:creationId xmlns:a16="http://schemas.microsoft.com/office/drawing/2014/main" id="{F1534A53-0889-AA8B-C4D6-249090D938F3}"/>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4B041EE9-01A3-96F0-A940-668536E04E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C84D1DD0-6229-1B06-D19B-1BFA07FB5680}"/>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B87015C9-C83B-F611-1F51-C0F40DF8E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18">
            <a:extLst>
              <a:ext uri="{FF2B5EF4-FFF2-40B4-BE49-F238E27FC236}">
                <a16:creationId xmlns:a16="http://schemas.microsoft.com/office/drawing/2014/main" id="{92D34BA7-DBB0-465C-B9D8-4380FA8D8654}"/>
              </a:ext>
            </a:extLst>
          </p:cNvPr>
          <p:cNvGrpSpPr/>
          <p:nvPr/>
        </p:nvGrpSpPr>
        <p:grpSpPr>
          <a:xfrm>
            <a:off x="5721839" y="1239691"/>
            <a:ext cx="653967" cy="66042"/>
            <a:chOff x="0" y="0"/>
            <a:chExt cx="258358" cy="26091"/>
          </a:xfrm>
        </p:grpSpPr>
        <p:sp>
          <p:nvSpPr>
            <p:cNvPr id="9" name="Freeform 19">
              <a:extLst>
                <a:ext uri="{FF2B5EF4-FFF2-40B4-BE49-F238E27FC236}">
                  <a16:creationId xmlns:a16="http://schemas.microsoft.com/office/drawing/2014/main" id="{2C2B26A7-5E82-C536-5AA4-2D75D146288D}"/>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10" name="TextBox 20">
              <a:extLst>
                <a:ext uri="{FF2B5EF4-FFF2-40B4-BE49-F238E27FC236}">
                  <a16:creationId xmlns:a16="http://schemas.microsoft.com/office/drawing/2014/main" id="{E793F2DD-8A8A-A09D-477F-CDD302292B62}"/>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11" name="Group 21">
            <a:extLst>
              <a:ext uri="{FF2B5EF4-FFF2-40B4-BE49-F238E27FC236}">
                <a16:creationId xmlns:a16="http://schemas.microsoft.com/office/drawing/2014/main" id="{94C5C380-9757-7849-F357-2E9023222357}"/>
              </a:ext>
            </a:extLst>
          </p:cNvPr>
          <p:cNvGrpSpPr/>
          <p:nvPr/>
        </p:nvGrpSpPr>
        <p:grpSpPr>
          <a:xfrm>
            <a:off x="6404120" y="1239691"/>
            <a:ext cx="66042" cy="66042"/>
            <a:chOff x="0" y="0"/>
            <a:chExt cx="812800" cy="812800"/>
          </a:xfrm>
        </p:grpSpPr>
        <p:sp>
          <p:nvSpPr>
            <p:cNvPr id="12" name="Freeform 22">
              <a:extLst>
                <a:ext uri="{FF2B5EF4-FFF2-40B4-BE49-F238E27FC236}">
                  <a16:creationId xmlns:a16="http://schemas.microsoft.com/office/drawing/2014/main" id="{FD587C96-5A8A-1D65-9238-67EFCE1371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13" name="TextBox 23">
              <a:extLst>
                <a:ext uri="{FF2B5EF4-FFF2-40B4-BE49-F238E27FC236}">
                  <a16:creationId xmlns:a16="http://schemas.microsoft.com/office/drawing/2014/main" id="{0EFC7AC5-62BB-480E-F41D-9DF448A7B006}"/>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6" name="Hình ảnh 1" descr="Ảnh có chứa văn bản, ảnh chụp màn hình, Phông chữ, số&#10;&#10;Nội dung do AI tạo ra có thể không chính xác.">
            <a:extLst>
              <a:ext uri="{FF2B5EF4-FFF2-40B4-BE49-F238E27FC236}">
                <a16:creationId xmlns:a16="http://schemas.microsoft.com/office/drawing/2014/main" id="{7ED2306B-EAD0-D038-3F50-3137CCC1E62D}"/>
              </a:ext>
            </a:extLst>
          </p:cNvPr>
          <p:cNvPicPr>
            <a:picLocks noChangeAspect="1"/>
          </p:cNvPicPr>
          <p:nvPr/>
        </p:nvPicPr>
        <p:blipFill>
          <a:blip r:embed="rId3"/>
          <a:stretch>
            <a:fillRect/>
          </a:stretch>
        </p:blipFill>
        <p:spPr>
          <a:xfrm>
            <a:off x="2683657" y="1513460"/>
            <a:ext cx="6824685" cy="5185475"/>
          </a:xfrm>
          <a:prstGeom prst="rect">
            <a:avLst/>
          </a:prstGeom>
        </p:spPr>
      </p:pic>
      <p:sp>
        <p:nvSpPr>
          <p:cNvPr id="7" name="TextBox 17">
            <a:extLst>
              <a:ext uri="{FF2B5EF4-FFF2-40B4-BE49-F238E27FC236}">
                <a16:creationId xmlns:a16="http://schemas.microsoft.com/office/drawing/2014/main" id="{50E773BB-61D1-F52D-B67E-8094DC5BB0C3}"/>
              </a:ext>
            </a:extLst>
          </p:cNvPr>
          <p:cNvSpPr txBox="1"/>
          <p:nvPr/>
        </p:nvSpPr>
        <p:spPr>
          <a:xfrm>
            <a:off x="891927" y="404099"/>
            <a:ext cx="10408143" cy="1397370"/>
          </a:xfrm>
          <a:prstGeom prst="rect">
            <a:avLst/>
          </a:prstGeom>
        </p:spPr>
        <p:txBody>
          <a:bodyPr wrap="square"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III. Obx widget và dependency injection​</a:t>
            </a:r>
          </a:p>
          <a:p>
            <a:pPr algn="ctr">
              <a:lnSpc>
                <a:spcPts val="5667"/>
              </a:lnSpc>
              <a:spcBef>
                <a:spcPct val="0"/>
              </a:spcBef>
            </a:pPr>
            <a:endParaRPr lang="vi-VN" sz="4048" b="1" noProof="1">
              <a:latin typeface="Arial" panose="020B0604020202020204" pitchFamily="34" charset="0"/>
              <a:ea typeface="Century Gothic Paneuropean Bold"/>
              <a:cs typeface="Arial" panose="020B0604020202020204" pitchFamily="34" charset="0"/>
              <a:sym typeface="Century Gothic Paneuropean Bold"/>
            </a:endParaRPr>
          </a:p>
        </p:txBody>
      </p:sp>
      <p:sp>
        <p:nvSpPr>
          <p:cNvPr id="15" name="Chỗ dành sẵn cho Số hiệu Bản chiếu 14">
            <a:extLst>
              <a:ext uri="{FF2B5EF4-FFF2-40B4-BE49-F238E27FC236}">
                <a16:creationId xmlns:a16="http://schemas.microsoft.com/office/drawing/2014/main" id="{A8833174-4D4C-74DD-EB6A-FFC715788467}"/>
              </a:ext>
            </a:extLst>
          </p:cNvPr>
          <p:cNvSpPr>
            <a:spLocks noGrp="1"/>
          </p:cNvSpPr>
          <p:nvPr>
            <p:ph type="sldNum" sz="quarter" idx="12"/>
          </p:nvPr>
        </p:nvSpPr>
        <p:spPr/>
        <p:txBody>
          <a:bodyPr/>
          <a:lstStyle/>
          <a:p>
            <a:fld id="{47EAD358-37BE-4FE3-9163-1C89D475336D}" type="slidenum">
              <a:rPr lang="en-AE" smtClean="0"/>
              <a:t>11</a:t>
            </a:fld>
            <a:endParaRPr lang="en-AE"/>
          </a:p>
        </p:txBody>
      </p:sp>
    </p:spTree>
    <p:extLst>
      <p:ext uri="{BB962C8B-B14F-4D97-AF65-F5344CB8AC3E}">
        <p14:creationId xmlns:p14="http://schemas.microsoft.com/office/powerpoint/2010/main" val="2728998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BADF0-1CCF-192B-B639-FAA6F92864F9}"/>
            </a:ext>
          </a:extLst>
        </p:cNvPr>
        <p:cNvGrpSpPr/>
        <p:nvPr/>
      </p:nvGrpSpPr>
      <p:grpSpPr>
        <a:xfrm>
          <a:off x="0" y="0"/>
          <a:ext cx="0" cy="0"/>
          <a:chOff x="0" y="0"/>
          <a:chExt cx="0" cy="0"/>
        </a:xfrm>
      </p:grpSpPr>
      <p:grpSp>
        <p:nvGrpSpPr>
          <p:cNvPr id="2" name="Group 14">
            <a:extLst>
              <a:ext uri="{FF2B5EF4-FFF2-40B4-BE49-F238E27FC236}">
                <a16:creationId xmlns:a16="http://schemas.microsoft.com/office/drawing/2014/main" id="{CFAFFF0F-8E0B-4FE8-E850-BB575A6930E7}"/>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B0CAEFC6-A4D5-D899-4205-57440CBF23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27AD7031-BBA6-AA80-B9BF-80E2129A6014}"/>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88B46783-E837-0CF0-8681-F4320B87F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pic>
        <p:nvPicPr>
          <p:cNvPr id="20" name="Hình ảnh 1" descr="Ảnh có chứa văn bản, ảnh chụp màn hình, Phông chữ, số&#10;&#10;Nội dung do AI tạo ra có thể không chính xác.">
            <a:extLst>
              <a:ext uri="{FF2B5EF4-FFF2-40B4-BE49-F238E27FC236}">
                <a16:creationId xmlns:a16="http://schemas.microsoft.com/office/drawing/2014/main" id="{B8EF9F52-0344-7CE6-43CE-7039DDB2216A}"/>
              </a:ext>
            </a:extLst>
          </p:cNvPr>
          <p:cNvPicPr>
            <a:picLocks noChangeAspect="1"/>
          </p:cNvPicPr>
          <p:nvPr/>
        </p:nvPicPr>
        <p:blipFill>
          <a:blip r:embed="rId3"/>
          <a:stretch>
            <a:fillRect/>
          </a:stretch>
        </p:blipFill>
        <p:spPr>
          <a:xfrm>
            <a:off x="1884682" y="1513460"/>
            <a:ext cx="8422635" cy="5228943"/>
          </a:xfrm>
          <a:prstGeom prst="rect">
            <a:avLst/>
          </a:prstGeom>
        </p:spPr>
      </p:pic>
      <p:grpSp>
        <p:nvGrpSpPr>
          <p:cNvPr id="21" name="Group 18">
            <a:extLst>
              <a:ext uri="{FF2B5EF4-FFF2-40B4-BE49-F238E27FC236}">
                <a16:creationId xmlns:a16="http://schemas.microsoft.com/office/drawing/2014/main" id="{123C7AC1-F4B1-2430-D6A9-829BCFD87758}"/>
              </a:ext>
            </a:extLst>
          </p:cNvPr>
          <p:cNvGrpSpPr/>
          <p:nvPr/>
        </p:nvGrpSpPr>
        <p:grpSpPr>
          <a:xfrm>
            <a:off x="5721839" y="1239691"/>
            <a:ext cx="653967" cy="66042"/>
            <a:chOff x="0" y="0"/>
            <a:chExt cx="258358" cy="26091"/>
          </a:xfrm>
        </p:grpSpPr>
        <p:sp>
          <p:nvSpPr>
            <p:cNvPr id="22" name="Freeform 19">
              <a:extLst>
                <a:ext uri="{FF2B5EF4-FFF2-40B4-BE49-F238E27FC236}">
                  <a16:creationId xmlns:a16="http://schemas.microsoft.com/office/drawing/2014/main" id="{6CF6687F-C38E-9DB9-5588-B573158D3C91}"/>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23" name="TextBox 20">
              <a:extLst>
                <a:ext uri="{FF2B5EF4-FFF2-40B4-BE49-F238E27FC236}">
                  <a16:creationId xmlns:a16="http://schemas.microsoft.com/office/drawing/2014/main" id="{46A267E1-4A9A-A14C-5E43-620F2B37DBA3}"/>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24" name="Group 21">
            <a:extLst>
              <a:ext uri="{FF2B5EF4-FFF2-40B4-BE49-F238E27FC236}">
                <a16:creationId xmlns:a16="http://schemas.microsoft.com/office/drawing/2014/main" id="{F467C1E7-1686-2361-7EDC-9A6645779954}"/>
              </a:ext>
            </a:extLst>
          </p:cNvPr>
          <p:cNvGrpSpPr/>
          <p:nvPr/>
        </p:nvGrpSpPr>
        <p:grpSpPr>
          <a:xfrm>
            <a:off x="6404120" y="1239691"/>
            <a:ext cx="66042" cy="66042"/>
            <a:chOff x="0" y="0"/>
            <a:chExt cx="812800" cy="812800"/>
          </a:xfrm>
        </p:grpSpPr>
        <p:sp>
          <p:nvSpPr>
            <p:cNvPr id="25" name="Freeform 22">
              <a:extLst>
                <a:ext uri="{FF2B5EF4-FFF2-40B4-BE49-F238E27FC236}">
                  <a16:creationId xmlns:a16="http://schemas.microsoft.com/office/drawing/2014/main" id="{923063EC-2238-B7B1-8FEC-9C1CEA7D78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26" name="TextBox 23">
              <a:extLst>
                <a:ext uri="{FF2B5EF4-FFF2-40B4-BE49-F238E27FC236}">
                  <a16:creationId xmlns:a16="http://schemas.microsoft.com/office/drawing/2014/main" id="{5E25BC96-0572-FC46-BE17-4E91F2F0A766}"/>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7" name="TextBox 17">
            <a:extLst>
              <a:ext uri="{FF2B5EF4-FFF2-40B4-BE49-F238E27FC236}">
                <a16:creationId xmlns:a16="http://schemas.microsoft.com/office/drawing/2014/main" id="{34DE577F-1BC5-5434-B9DE-56E777E1D943}"/>
              </a:ext>
            </a:extLst>
          </p:cNvPr>
          <p:cNvSpPr txBox="1"/>
          <p:nvPr/>
        </p:nvSpPr>
        <p:spPr>
          <a:xfrm>
            <a:off x="891927" y="404099"/>
            <a:ext cx="10408143" cy="1397370"/>
          </a:xfrm>
          <a:prstGeom prst="rect">
            <a:avLst/>
          </a:prstGeom>
        </p:spPr>
        <p:txBody>
          <a:bodyPr wrap="square"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III. Obx widget và dependency injection​</a:t>
            </a:r>
          </a:p>
          <a:p>
            <a:pPr algn="ctr">
              <a:lnSpc>
                <a:spcPts val="5667"/>
              </a:lnSpc>
              <a:spcBef>
                <a:spcPct val="0"/>
              </a:spcBef>
            </a:pPr>
            <a:endParaRPr lang="vi-VN" sz="4048" b="1" noProof="1">
              <a:latin typeface="Arial" panose="020B0604020202020204" pitchFamily="34" charset="0"/>
              <a:ea typeface="Century Gothic Paneuropean Bold"/>
              <a:cs typeface="Arial" panose="020B0604020202020204" pitchFamily="34" charset="0"/>
              <a:sym typeface="Century Gothic Paneuropean Bold"/>
            </a:endParaRPr>
          </a:p>
        </p:txBody>
      </p:sp>
      <p:sp>
        <p:nvSpPr>
          <p:cNvPr id="7" name="Chỗ dành sẵn cho Số hiệu Bản chiếu 6">
            <a:extLst>
              <a:ext uri="{FF2B5EF4-FFF2-40B4-BE49-F238E27FC236}">
                <a16:creationId xmlns:a16="http://schemas.microsoft.com/office/drawing/2014/main" id="{B440C7EE-3C09-9D5C-78E2-C6FDEB25B162}"/>
              </a:ext>
            </a:extLst>
          </p:cNvPr>
          <p:cNvSpPr>
            <a:spLocks noGrp="1"/>
          </p:cNvSpPr>
          <p:nvPr>
            <p:ph type="sldNum" sz="quarter" idx="12"/>
          </p:nvPr>
        </p:nvSpPr>
        <p:spPr/>
        <p:txBody>
          <a:bodyPr/>
          <a:lstStyle/>
          <a:p>
            <a:fld id="{47EAD358-37BE-4FE3-9163-1C89D475336D}" type="slidenum">
              <a:rPr lang="en-AE" smtClean="0"/>
              <a:t>12</a:t>
            </a:fld>
            <a:endParaRPr lang="en-AE"/>
          </a:p>
        </p:txBody>
      </p:sp>
    </p:spTree>
    <p:extLst>
      <p:ext uri="{BB962C8B-B14F-4D97-AF65-F5344CB8AC3E}">
        <p14:creationId xmlns:p14="http://schemas.microsoft.com/office/powerpoint/2010/main" val="120749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867C-4CBF-286D-C193-E2FCF6D817CF}"/>
            </a:ext>
          </a:extLst>
        </p:cNvPr>
        <p:cNvGrpSpPr/>
        <p:nvPr/>
      </p:nvGrpSpPr>
      <p:grpSpPr>
        <a:xfrm>
          <a:off x="0" y="0"/>
          <a:ext cx="0" cy="0"/>
          <a:chOff x="0" y="0"/>
          <a:chExt cx="0" cy="0"/>
        </a:xfrm>
      </p:grpSpPr>
      <p:grpSp>
        <p:nvGrpSpPr>
          <p:cNvPr id="2" name="Group 14">
            <a:extLst>
              <a:ext uri="{FF2B5EF4-FFF2-40B4-BE49-F238E27FC236}">
                <a16:creationId xmlns:a16="http://schemas.microsoft.com/office/drawing/2014/main" id="{B090FCD2-6C83-539B-CB71-12DEE7BE7C3A}"/>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09A471F6-5444-5D1C-E2C0-248A791DDE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87087B22-35F6-6BC3-EA7B-11F81CFD8B0C}"/>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482725B0-8801-C63B-FA5D-E8CED85FC6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pic>
        <p:nvPicPr>
          <p:cNvPr id="6" name="Hình ảnh 1" descr="Ảnh có chứa văn bản, ảnh chụp màn hình, thiết kế&#10;&#10;Nội dung do AI tạo ra có thể không chính xác.">
            <a:extLst>
              <a:ext uri="{FF2B5EF4-FFF2-40B4-BE49-F238E27FC236}">
                <a16:creationId xmlns:a16="http://schemas.microsoft.com/office/drawing/2014/main" id="{FA95F094-AE3F-8EFF-DC9B-E4052C4D1B98}"/>
              </a:ext>
            </a:extLst>
          </p:cNvPr>
          <p:cNvPicPr>
            <a:picLocks noChangeAspect="1"/>
          </p:cNvPicPr>
          <p:nvPr/>
        </p:nvPicPr>
        <p:blipFill>
          <a:blip r:embed="rId3"/>
          <a:stretch>
            <a:fillRect/>
          </a:stretch>
        </p:blipFill>
        <p:spPr>
          <a:xfrm>
            <a:off x="1334689" y="1915082"/>
            <a:ext cx="2354911" cy="4720606"/>
          </a:xfrm>
          <a:prstGeom prst="rect">
            <a:avLst/>
          </a:prstGeom>
        </p:spPr>
      </p:pic>
      <p:pic>
        <p:nvPicPr>
          <p:cNvPr id="7" name="Hình ảnh 1" descr="Ảnh có chứa văn bản, ảnh chụp màn hình, thiết kế&#10;&#10;Nội dung do AI tạo ra có thể không chính xác.">
            <a:extLst>
              <a:ext uri="{FF2B5EF4-FFF2-40B4-BE49-F238E27FC236}">
                <a16:creationId xmlns:a16="http://schemas.microsoft.com/office/drawing/2014/main" id="{4BE86F84-E664-475C-445E-666C55364A23}"/>
              </a:ext>
            </a:extLst>
          </p:cNvPr>
          <p:cNvPicPr>
            <a:picLocks noChangeAspect="1"/>
          </p:cNvPicPr>
          <p:nvPr/>
        </p:nvPicPr>
        <p:blipFill>
          <a:blip r:embed="rId4"/>
          <a:stretch>
            <a:fillRect/>
          </a:stretch>
        </p:blipFill>
        <p:spPr>
          <a:xfrm>
            <a:off x="4924740" y="1915081"/>
            <a:ext cx="2342519" cy="4720606"/>
          </a:xfrm>
          <a:prstGeom prst="rect">
            <a:avLst/>
          </a:prstGeom>
        </p:spPr>
      </p:pic>
      <p:pic>
        <p:nvPicPr>
          <p:cNvPr id="21" name="Hình ảnh 1" descr="Ảnh có chứa văn bản, ảnh chụp màn hình, màu trắng, thiết kế&#10;&#10;Nội dung do AI tạo ra có thể không chính xác.">
            <a:extLst>
              <a:ext uri="{FF2B5EF4-FFF2-40B4-BE49-F238E27FC236}">
                <a16:creationId xmlns:a16="http://schemas.microsoft.com/office/drawing/2014/main" id="{91010760-5180-9B39-01EF-AC66DD733538}"/>
              </a:ext>
            </a:extLst>
          </p:cNvPr>
          <p:cNvPicPr>
            <a:picLocks noChangeAspect="1"/>
          </p:cNvPicPr>
          <p:nvPr/>
        </p:nvPicPr>
        <p:blipFill>
          <a:blip r:embed="rId5"/>
          <a:stretch>
            <a:fillRect/>
          </a:stretch>
        </p:blipFill>
        <p:spPr>
          <a:xfrm>
            <a:off x="8502399" y="1915081"/>
            <a:ext cx="2354911" cy="4756570"/>
          </a:xfrm>
          <a:prstGeom prst="rect">
            <a:avLst/>
          </a:prstGeom>
        </p:spPr>
      </p:pic>
      <p:grpSp>
        <p:nvGrpSpPr>
          <p:cNvPr id="22" name="Group 18">
            <a:extLst>
              <a:ext uri="{FF2B5EF4-FFF2-40B4-BE49-F238E27FC236}">
                <a16:creationId xmlns:a16="http://schemas.microsoft.com/office/drawing/2014/main" id="{FCC63EA8-5608-2280-6B8A-D2967A4533FA}"/>
              </a:ext>
            </a:extLst>
          </p:cNvPr>
          <p:cNvGrpSpPr/>
          <p:nvPr/>
        </p:nvGrpSpPr>
        <p:grpSpPr>
          <a:xfrm>
            <a:off x="5721839" y="1239691"/>
            <a:ext cx="653967" cy="66042"/>
            <a:chOff x="0" y="0"/>
            <a:chExt cx="258358" cy="26091"/>
          </a:xfrm>
        </p:grpSpPr>
        <p:sp>
          <p:nvSpPr>
            <p:cNvPr id="23" name="Freeform 19">
              <a:extLst>
                <a:ext uri="{FF2B5EF4-FFF2-40B4-BE49-F238E27FC236}">
                  <a16:creationId xmlns:a16="http://schemas.microsoft.com/office/drawing/2014/main" id="{13D8AAE7-B03F-9743-55BA-1E5A18C65380}"/>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pPr algn="ctr"/>
              <a:endParaRPr lang="vi-VN" sz="1200" noProof="1"/>
            </a:p>
          </p:txBody>
        </p:sp>
        <p:sp>
          <p:nvSpPr>
            <p:cNvPr id="24" name="TextBox 20">
              <a:extLst>
                <a:ext uri="{FF2B5EF4-FFF2-40B4-BE49-F238E27FC236}">
                  <a16:creationId xmlns:a16="http://schemas.microsoft.com/office/drawing/2014/main" id="{11EE9BFD-A716-72E8-0A04-5C9B54883358}"/>
                </a:ext>
              </a:extLst>
            </p:cNvPr>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25" name="Group 21">
            <a:extLst>
              <a:ext uri="{FF2B5EF4-FFF2-40B4-BE49-F238E27FC236}">
                <a16:creationId xmlns:a16="http://schemas.microsoft.com/office/drawing/2014/main" id="{25A35132-08EA-DF90-B37F-50F9C62FCBD1}"/>
              </a:ext>
            </a:extLst>
          </p:cNvPr>
          <p:cNvGrpSpPr/>
          <p:nvPr/>
        </p:nvGrpSpPr>
        <p:grpSpPr>
          <a:xfrm>
            <a:off x="6404120" y="1239691"/>
            <a:ext cx="66042" cy="66042"/>
            <a:chOff x="0" y="0"/>
            <a:chExt cx="812800" cy="812800"/>
          </a:xfrm>
        </p:grpSpPr>
        <p:sp>
          <p:nvSpPr>
            <p:cNvPr id="26" name="Freeform 22">
              <a:extLst>
                <a:ext uri="{FF2B5EF4-FFF2-40B4-BE49-F238E27FC236}">
                  <a16:creationId xmlns:a16="http://schemas.microsoft.com/office/drawing/2014/main" id="{ECF556F8-326E-47D0-8AE2-A71EA5EBD4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pPr algn="ctr"/>
              <a:endParaRPr lang="vi-VN" sz="1200" noProof="1"/>
            </a:p>
          </p:txBody>
        </p:sp>
        <p:sp>
          <p:nvSpPr>
            <p:cNvPr id="27" name="TextBox 23">
              <a:extLst>
                <a:ext uri="{FF2B5EF4-FFF2-40B4-BE49-F238E27FC236}">
                  <a16:creationId xmlns:a16="http://schemas.microsoft.com/office/drawing/2014/main" id="{CC6853E3-4F9D-CC8A-CB67-6566B1843B61}"/>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8" name="TextBox 17">
            <a:extLst>
              <a:ext uri="{FF2B5EF4-FFF2-40B4-BE49-F238E27FC236}">
                <a16:creationId xmlns:a16="http://schemas.microsoft.com/office/drawing/2014/main" id="{5DF48BCD-22A3-D459-294C-1BF164AE224F}"/>
              </a:ext>
            </a:extLst>
          </p:cNvPr>
          <p:cNvSpPr txBox="1"/>
          <p:nvPr/>
        </p:nvSpPr>
        <p:spPr>
          <a:xfrm>
            <a:off x="891927" y="404099"/>
            <a:ext cx="10408143" cy="1397370"/>
          </a:xfrm>
          <a:prstGeom prst="rect">
            <a:avLst/>
          </a:prstGeom>
        </p:spPr>
        <p:txBody>
          <a:bodyPr wrap="square"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III. Obx widget và dependency injection​</a:t>
            </a:r>
          </a:p>
          <a:p>
            <a:pPr algn="ctr">
              <a:lnSpc>
                <a:spcPts val="5667"/>
              </a:lnSpc>
              <a:spcBef>
                <a:spcPct val="0"/>
              </a:spcBef>
            </a:pPr>
            <a:endParaRPr lang="vi-VN" sz="4048" b="1" noProof="1">
              <a:latin typeface="Arial" panose="020B0604020202020204" pitchFamily="34" charset="0"/>
              <a:ea typeface="Century Gothic Paneuropean Bold"/>
              <a:cs typeface="Arial" panose="020B0604020202020204" pitchFamily="34" charset="0"/>
              <a:sym typeface="Century Gothic Paneuropean Bold"/>
            </a:endParaRPr>
          </a:p>
        </p:txBody>
      </p:sp>
      <p:sp>
        <p:nvSpPr>
          <p:cNvPr id="9" name="Chỗ dành sẵn cho Số hiệu Bản chiếu 8">
            <a:extLst>
              <a:ext uri="{FF2B5EF4-FFF2-40B4-BE49-F238E27FC236}">
                <a16:creationId xmlns:a16="http://schemas.microsoft.com/office/drawing/2014/main" id="{47BAD826-AC0E-15F7-1D1B-A5368D3284E6}"/>
              </a:ext>
            </a:extLst>
          </p:cNvPr>
          <p:cNvSpPr>
            <a:spLocks noGrp="1"/>
          </p:cNvSpPr>
          <p:nvPr>
            <p:ph type="sldNum" sz="quarter" idx="12"/>
          </p:nvPr>
        </p:nvSpPr>
        <p:spPr/>
        <p:txBody>
          <a:bodyPr/>
          <a:lstStyle/>
          <a:p>
            <a:fld id="{47EAD358-37BE-4FE3-9163-1C89D475336D}" type="slidenum">
              <a:rPr lang="en-AE" smtClean="0"/>
              <a:t>13</a:t>
            </a:fld>
            <a:endParaRPr lang="en-AE"/>
          </a:p>
        </p:txBody>
      </p:sp>
    </p:spTree>
    <p:extLst>
      <p:ext uri="{BB962C8B-B14F-4D97-AF65-F5344CB8AC3E}">
        <p14:creationId xmlns:p14="http://schemas.microsoft.com/office/powerpoint/2010/main" val="73477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8A63-AF8D-ACB6-B351-3F53F19DD4E3}"/>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7DA0A1B9-9144-9AFA-7EB6-F820F8588097}"/>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9E651956-3241-20FA-C928-9146350C02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2133" noProof="1"/>
            </a:p>
          </p:txBody>
        </p:sp>
        <p:sp>
          <p:nvSpPr>
            <p:cNvPr id="16" name="TextBox 16">
              <a:extLst>
                <a:ext uri="{FF2B5EF4-FFF2-40B4-BE49-F238E27FC236}">
                  <a16:creationId xmlns:a16="http://schemas.microsoft.com/office/drawing/2014/main" id="{BC5F6866-B696-AA26-443A-F6659F724400}"/>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2133" noProof="1"/>
            </a:p>
          </p:txBody>
        </p:sp>
      </p:grpSp>
      <p:pic>
        <p:nvPicPr>
          <p:cNvPr id="1026" name="Picture 2" descr="KHOA ĐIỆN TỬ VIỄN THÔNG">
            <a:extLst>
              <a:ext uri="{FF2B5EF4-FFF2-40B4-BE49-F238E27FC236}">
                <a16:creationId xmlns:a16="http://schemas.microsoft.com/office/drawing/2014/main" id="{AA85BFE7-70A5-2F09-70DD-A85ADBF0FA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17">
            <a:extLst>
              <a:ext uri="{FF2B5EF4-FFF2-40B4-BE49-F238E27FC236}">
                <a16:creationId xmlns:a16="http://schemas.microsoft.com/office/drawing/2014/main" id="{D1E46643-0B71-220A-0A4C-91FF629346FD}"/>
              </a:ext>
            </a:extLst>
          </p:cNvPr>
          <p:cNvSpPr txBox="1"/>
          <p:nvPr/>
        </p:nvSpPr>
        <p:spPr>
          <a:xfrm>
            <a:off x="891928" y="923396"/>
            <a:ext cx="10408143" cy="666401"/>
          </a:xfrm>
          <a:prstGeom prst="rect">
            <a:avLst/>
          </a:prstGeom>
        </p:spPr>
        <p:txBody>
          <a:bodyPr wrap="square" lIns="0" tIns="0" rIns="0" bIns="0" rtlCol="0" anchor="t">
            <a:spAutoFit/>
          </a:bodyPr>
          <a:lstStyle/>
          <a:p>
            <a:pPr algn="ctr">
              <a:lnSpc>
                <a:spcPts val="5667"/>
              </a:lnSpc>
              <a:spcBef>
                <a:spcPct val="0"/>
              </a:spcBef>
            </a:pPr>
            <a:r>
              <a:rPr lang="en-US" sz="4048" b="1" noProof="1">
                <a:latin typeface="Arial" panose="020B0604020202020204" pitchFamily="34" charset="0"/>
                <a:ea typeface="Century Gothic Paneuropean Bold"/>
                <a:cs typeface="Arial" panose="020B0604020202020204" pitchFamily="34" charset="0"/>
                <a:sym typeface="Century Gothic Paneuropean Bold"/>
              </a:rPr>
              <a:t>IV. </a:t>
            </a:r>
            <a:r>
              <a:rPr lang="vi-VN" sz="4048" b="1" noProof="1">
                <a:latin typeface="Arial" panose="020B0604020202020204" pitchFamily="34" charset="0"/>
                <a:ea typeface="Century Gothic Paneuropean Bold"/>
                <a:cs typeface="Arial" panose="020B0604020202020204" pitchFamily="34" charset="0"/>
                <a:sym typeface="Century Gothic Paneuropean Bold"/>
              </a:rPr>
              <a:t>GetX routing và navigation​</a:t>
            </a:r>
          </a:p>
        </p:txBody>
      </p:sp>
      <p:grpSp>
        <p:nvGrpSpPr>
          <p:cNvPr id="10" name="Group 18">
            <a:extLst>
              <a:ext uri="{FF2B5EF4-FFF2-40B4-BE49-F238E27FC236}">
                <a16:creationId xmlns:a16="http://schemas.microsoft.com/office/drawing/2014/main" id="{8E905583-3AB3-17C3-76A4-FC45E0809BC4}"/>
              </a:ext>
            </a:extLst>
          </p:cNvPr>
          <p:cNvGrpSpPr/>
          <p:nvPr/>
        </p:nvGrpSpPr>
        <p:grpSpPr>
          <a:xfrm>
            <a:off x="5721839" y="1752600"/>
            <a:ext cx="653967" cy="66042"/>
            <a:chOff x="0" y="0"/>
            <a:chExt cx="258358" cy="26091"/>
          </a:xfrm>
        </p:grpSpPr>
        <p:sp>
          <p:nvSpPr>
            <p:cNvPr id="17" name="Freeform 19">
              <a:extLst>
                <a:ext uri="{FF2B5EF4-FFF2-40B4-BE49-F238E27FC236}">
                  <a16:creationId xmlns:a16="http://schemas.microsoft.com/office/drawing/2014/main" id="{8B08768E-D84F-2CDC-913E-51676FE2621A}"/>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18" name="TextBox 20">
              <a:extLst>
                <a:ext uri="{FF2B5EF4-FFF2-40B4-BE49-F238E27FC236}">
                  <a16:creationId xmlns:a16="http://schemas.microsoft.com/office/drawing/2014/main" id="{CB240FA8-BA73-AEAC-5161-EEFE5384AF93}"/>
                </a:ext>
              </a:extLst>
            </p:cNvPr>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19" name="Group 21">
            <a:extLst>
              <a:ext uri="{FF2B5EF4-FFF2-40B4-BE49-F238E27FC236}">
                <a16:creationId xmlns:a16="http://schemas.microsoft.com/office/drawing/2014/main" id="{578517AD-E165-655C-22A6-C3387A3226E1}"/>
              </a:ext>
            </a:extLst>
          </p:cNvPr>
          <p:cNvGrpSpPr/>
          <p:nvPr/>
        </p:nvGrpSpPr>
        <p:grpSpPr>
          <a:xfrm>
            <a:off x="6515158" y="1747233"/>
            <a:ext cx="66042" cy="66042"/>
            <a:chOff x="0" y="0"/>
            <a:chExt cx="812800" cy="812800"/>
          </a:xfrm>
        </p:grpSpPr>
        <p:sp>
          <p:nvSpPr>
            <p:cNvPr id="20" name="Freeform 22">
              <a:extLst>
                <a:ext uri="{FF2B5EF4-FFF2-40B4-BE49-F238E27FC236}">
                  <a16:creationId xmlns:a16="http://schemas.microsoft.com/office/drawing/2014/main" id="{7F17497A-2387-806A-A1FE-1C894E83B8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1" name="TextBox 23">
              <a:extLst>
                <a:ext uri="{FF2B5EF4-FFF2-40B4-BE49-F238E27FC236}">
                  <a16:creationId xmlns:a16="http://schemas.microsoft.com/office/drawing/2014/main" id="{79096D59-EE95-ECE6-6176-C531D6958AA6}"/>
                </a:ext>
              </a:extLst>
            </p:cNvPr>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sp>
        <p:nvSpPr>
          <p:cNvPr id="2" name="TextBox 1">
            <a:extLst>
              <a:ext uri="{FF2B5EF4-FFF2-40B4-BE49-F238E27FC236}">
                <a16:creationId xmlns:a16="http://schemas.microsoft.com/office/drawing/2014/main" id="{EC836401-A2BD-3E0D-7296-FA8A8AEF233D}"/>
              </a:ext>
            </a:extLst>
          </p:cNvPr>
          <p:cNvSpPr txBox="1"/>
          <p:nvPr/>
        </p:nvSpPr>
        <p:spPr>
          <a:xfrm>
            <a:off x="680329" y="2378163"/>
            <a:ext cx="10831340" cy="1154162"/>
          </a:xfrm>
          <a:prstGeom prst="rect">
            <a:avLst/>
          </a:prstGeom>
          <a:noFill/>
        </p:spPr>
        <p:txBody>
          <a:bodyPr wrap="square">
            <a:spAutoFit/>
          </a:bodyPr>
          <a:lstStyle/>
          <a:p>
            <a:pPr marL="304815" lvl="0" indent="-304815">
              <a:buFont typeface="Wingdings" panose="05000000000000000000" pitchFamily="2" charset="2"/>
              <a:buChar char="v"/>
              <a:defRPr/>
            </a:pPr>
            <a:r>
              <a:rPr lang="vi-VN" sz="2300" b="1" noProof="1">
                <a:solidFill>
                  <a:prstClr val="black"/>
                </a:solidFill>
                <a:latin typeface="Open Sans" panose="020B0606030504020204" pitchFamily="34" charset="0"/>
                <a:ea typeface="Open Sans" panose="020B0606030504020204" pitchFamily="34" charset="0"/>
                <a:cs typeface="Open Sans" panose="020B0606030504020204" pitchFamily="34" charset="0"/>
              </a:rPr>
              <a:t>GetX Routing</a:t>
            </a:r>
            <a:r>
              <a:rPr lang="vi-VN" sz="2300" noProof="1">
                <a:solidFill>
                  <a:prstClr val="black"/>
                </a:solidFill>
                <a:latin typeface="Open Sans" panose="020B0606030504020204" pitchFamily="34" charset="0"/>
                <a:ea typeface="Open Sans" panose="020B0606030504020204" pitchFamily="34" charset="0"/>
                <a:cs typeface="Open Sans" panose="020B0606030504020204" pitchFamily="34" charset="0"/>
              </a:rPr>
              <a:t> là hệ thống điều hướng (navigation) trong Flutter do thư viện GetX cung cấp, cho phép di chuyển giữa các màn hình không cần BuildContext.</a:t>
            </a:r>
          </a:p>
        </p:txBody>
      </p:sp>
      <p:sp>
        <p:nvSpPr>
          <p:cNvPr id="3" name="TextBox 2">
            <a:extLst>
              <a:ext uri="{FF2B5EF4-FFF2-40B4-BE49-F238E27FC236}">
                <a16:creationId xmlns:a16="http://schemas.microsoft.com/office/drawing/2014/main" id="{7FEB70FD-DBDF-6B63-BDB3-96706C36FCE9}"/>
              </a:ext>
            </a:extLst>
          </p:cNvPr>
          <p:cNvSpPr txBox="1"/>
          <p:nvPr/>
        </p:nvSpPr>
        <p:spPr>
          <a:xfrm>
            <a:off x="699970" y="4305944"/>
            <a:ext cx="10831340" cy="800219"/>
          </a:xfrm>
          <a:prstGeom prst="rect">
            <a:avLst/>
          </a:prstGeom>
          <a:noFill/>
        </p:spPr>
        <p:txBody>
          <a:bodyPr wrap="square">
            <a:spAutoFit/>
          </a:bodyPr>
          <a:lstStyle/>
          <a:p>
            <a:pPr marL="304815" lvl="0" indent="-304815">
              <a:buFont typeface="Wingdings" panose="05000000000000000000" pitchFamily="2" charset="2"/>
              <a:buChar char="v"/>
              <a:defRPr/>
            </a:pPr>
            <a:r>
              <a:rPr lang="vi-VN" sz="2300" b="1" noProof="1">
                <a:solidFill>
                  <a:prstClr val="black"/>
                </a:solidFill>
                <a:latin typeface="Open Sans" panose="020B0606030504020204" pitchFamily="34" charset="0"/>
                <a:ea typeface="Open Sans" panose="020B0606030504020204" pitchFamily="34" charset="0"/>
                <a:cs typeface="Open Sans" panose="020B0606030504020204" pitchFamily="34" charset="0"/>
              </a:rPr>
              <a:t>Navigation</a:t>
            </a:r>
            <a:r>
              <a:rPr lang="vi-VN" sz="2300" noProof="1">
                <a:solidFill>
                  <a:prstClr val="black"/>
                </a:solidFill>
                <a:latin typeface="Open Sans" panose="020B0606030504020204" pitchFamily="34" charset="0"/>
                <a:ea typeface="Open Sans" panose="020B0606030504020204" pitchFamily="34" charset="0"/>
                <a:cs typeface="Open Sans" panose="020B0606030504020204" pitchFamily="34" charset="0"/>
              </a:rPr>
              <a:t> (Điều hướng) là quá trình di chuyển giữa các màn hình trong ứng dụng.</a:t>
            </a:r>
          </a:p>
        </p:txBody>
      </p:sp>
      <p:sp>
        <p:nvSpPr>
          <p:cNvPr id="5" name="Chỗ dành sẵn cho Số hiệu Bản chiếu 4">
            <a:extLst>
              <a:ext uri="{FF2B5EF4-FFF2-40B4-BE49-F238E27FC236}">
                <a16:creationId xmlns:a16="http://schemas.microsoft.com/office/drawing/2014/main" id="{F59E8C14-4EF7-F07C-06D6-AE7731F59C3A}"/>
              </a:ext>
            </a:extLst>
          </p:cNvPr>
          <p:cNvSpPr>
            <a:spLocks noGrp="1"/>
          </p:cNvSpPr>
          <p:nvPr>
            <p:ph type="sldNum" sz="quarter" idx="12"/>
          </p:nvPr>
        </p:nvSpPr>
        <p:spPr/>
        <p:txBody>
          <a:bodyPr/>
          <a:lstStyle/>
          <a:p>
            <a:fld id="{47EAD358-37BE-4FE3-9163-1C89D475336D}" type="slidenum">
              <a:rPr lang="en-AE" smtClean="0"/>
              <a:t>14</a:t>
            </a:fld>
            <a:endParaRPr lang="en-AE"/>
          </a:p>
        </p:txBody>
      </p:sp>
    </p:spTree>
    <p:extLst>
      <p:ext uri="{BB962C8B-B14F-4D97-AF65-F5344CB8AC3E}">
        <p14:creationId xmlns:p14="http://schemas.microsoft.com/office/powerpoint/2010/main" val="3395167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F6C49-C69C-C38C-DEE9-363E13ED574C}"/>
            </a:ext>
          </a:extLst>
        </p:cNvPr>
        <p:cNvGrpSpPr/>
        <p:nvPr/>
      </p:nvGrpSpPr>
      <p:grpSpPr>
        <a:xfrm>
          <a:off x="0" y="0"/>
          <a:ext cx="0" cy="0"/>
          <a:chOff x="0" y="0"/>
          <a:chExt cx="0" cy="0"/>
        </a:xfrm>
      </p:grpSpPr>
      <p:grpSp>
        <p:nvGrpSpPr>
          <p:cNvPr id="2" name="Group 14">
            <a:extLst>
              <a:ext uri="{FF2B5EF4-FFF2-40B4-BE49-F238E27FC236}">
                <a16:creationId xmlns:a16="http://schemas.microsoft.com/office/drawing/2014/main" id="{8380D728-7AC6-CE06-9716-4AC68BBA17DB}"/>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4976B86D-5C9F-54A4-5A68-35DCC04B5F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DE4AE68D-2C2F-CF53-B69E-869083115243}"/>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1BE25077-B7AA-2F73-CAC1-519BF301B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pic>
        <p:nvPicPr>
          <p:cNvPr id="6" name="Hình ảnh 1" descr="Ảnh có chứa văn bản, ảnh chụp màn hình, Phông chữ, số&#10;&#10;Nội dung do AI tạo ra có thể không chính xác.">
            <a:extLst>
              <a:ext uri="{FF2B5EF4-FFF2-40B4-BE49-F238E27FC236}">
                <a16:creationId xmlns:a16="http://schemas.microsoft.com/office/drawing/2014/main" id="{FC125082-60A4-1A70-E31F-FE88C3715013}"/>
              </a:ext>
            </a:extLst>
          </p:cNvPr>
          <p:cNvPicPr>
            <a:picLocks noChangeAspect="1"/>
          </p:cNvPicPr>
          <p:nvPr/>
        </p:nvPicPr>
        <p:blipFill>
          <a:blip r:embed="rId3"/>
          <a:stretch>
            <a:fillRect/>
          </a:stretch>
        </p:blipFill>
        <p:spPr>
          <a:xfrm>
            <a:off x="1086655" y="1725387"/>
            <a:ext cx="4479044" cy="4911003"/>
          </a:xfrm>
          <a:prstGeom prst="rect">
            <a:avLst/>
          </a:prstGeom>
        </p:spPr>
      </p:pic>
      <p:pic>
        <p:nvPicPr>
          <p:cNvPr id="7" name="Hình ảnh 1" descr="Ảnh có chứa văn bản, ảnh chụp màn hình, Phông chữ, số&#10;&#10;Nội dung do AI tạo ra có thể không chính xác.">
            <a:extLst>
              <a:ext uri="{FF2B5EF4-FFF2-40B4-BE49-F238E27FC236}">
                <a16:creationId xmlns:a16="http://schemas.microsoft.com/office/drawing/2014/main" id="{8C293BE5-86C5-96FD-E536-1E7BF4C08B9C}"/>
              </a:ext>
            </a:extLst>
          </p:cNvPr>
          <p:cNvPicPr>
            <a:picLocks noChangeAspect="1"/>
          </p:cNvPicPr>
          <p:nvPr/>
        </p:nvPicPr>
        <p:blipFill>
          <a:blip r:embed="rId4"/>
          <a:stretch>
            <a:fillRect/>
          </a:stretch>
        </p:blipFill>
        <p:spPr>
          <a:xfrm>
            <a:off x="6676105" y="1725387"/>
            <a:ext cx="4837469" cy="4909812"/>
          </a:xfrm>
          <a:prstGeom prst="rect">
            <a:avLst/>
          </a:prstGeom>
        </p:spPr>
      </p:pic>
      <p:sp>
        <p:nvSpPr>
          <p:cNvPr id="20" name="TextBox 17">
            <a:extLst>
              <a:ext uri="{FF2B5EF4-FFF2-40B4-BE49-F238E27FC236}">
                <a16:creationId xmlns:a16="http://schemas.microsoft.com/office/drawing/2014/main" id="{32DE606A-712A-9AED-03DA-893033EB482F}"/>
              </a:ext>
            </a:extLst>
          </p:cNvPr>
          <p:cNvSpPr txBox="1"/>
          <p:nvPr/>
        </p:nvSpPr>
        <p:spPr>
          <a:xfrm>
            <a:off x="891928" y="372523"/>
            <a:ext cx="10408143" cy="666401"/>
          </a:xfrm>
          <a:prstGeom prst="rect">
            <a:avLst/>
          </a:prstGeom>
        </p:spPr>
        <p:txBody>
          <a:bodyPr wrap="square" lIns="0" tIns="0" rIns="0" bIns="0" rtlCol="0" anchor="t">
            <a:spAutoFit/>
          </a:bodyPr>
          <a:lstStyle/>
          <a:p>
            <a:pPr algn="ctr">
              <a:lnSpc>
                <a:spcPts val="5667"/>
              </a:lnSpc>
              <a:spcBef>
                <a:spcPct val="0"/>
              </a:spcBef>
            </a:pPr>
            <a:r>
              <a:rPr lang="en-US" sz="4048" b="1" noProof="1">
                <a:latin typeface="Arial" panose="020B0604020202020204" pitchFamily="34" charset="0"/>
                <a:ea typeface="Century Gothic Paneuropean Bold"/>
                <a:cs typeface="Arial" panose="020B0604020202020204" pitchFamily="34" charset="0"/>
                <a:sym typeface="Century Gothic Paneuropean Bold"/>
              </a:rPr>
              <a:t>IV. </a:t>
            </a:r>
            <a:r>
              <a:rPr lang="vi-VN" sz="4048" b="1" noProof="1">
                <a:latin typeface="Arial" panose="020B0604020202020204" pitchFamily="34" charset="0"/>
                <a:ea typeface="Century Gothic Paneuropean Bold"/>
                <a:cs typeface="Arial" panose="020B0604020202020204" pitchFamily="34" charset="0"/>
                <a:sym typeface="Century Gothic Paneuropean Bold"/>
              </a:rPr>
              <a:t>GetX routing và navigation​</a:t>
            </a:r>
          </a:p>
        </p:txBody>
      </p:sp>
      <p:grpSp>
        <p:nvGrpSpPr>
          <p:cNvPr id="21" name="Group 18">
            <a:extLst>
              <a:ext uri="{FF2B5EF4-FFF2-40B4-BE49-F238E27FC236}">
                <a16:creationId xmlns:a16="http://schemas.microsoft.com/office/drawing/2014/main" id="{99892C53-C7ED-6D3E-3DC0-4D1051F83AA0}"/>
              </a:ext>
            </a:extLst>
          </p:cNvPr>
          <p:cNvGrpSpPr/>
          <p:nvPr/>
        </p:nvGrpSpPr>
        <p:grpSpPr>
          <a:xfrm>
            <a:off x="5721839" y="1201727"/>
            <a:ext cx="653967" cy="66042"/>
            <a:chOff x="0" y="0"/>
            <a:chExt cx="258358" cy="26091"/>
          </a:xfrm>
        </p:grpSpPr>
        <p:sp>
          <p:nvSpPr>
            <p:cNvPr id="22" name="Freeform 19">
              <a:extLst>
                <a:ext uri="{FF2B5EF4-FFF2-40B4-BE49-F238E27FC236}">
                  <a16:creationId xmlns:a16="http://schemas.microsoft.com/office/drawing/2014/main" id="{D5670F9C-C611-6C1C-1CC4-3E302941DC48}"/>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23" name="TextBox 20">
              <a:extLst>
                <a:ext uri="{FF2B5EF4-FFF2-40B4-BE49-F238E27FC236}">
                  <a16:creationId xmlns:a16="http://schemas.microsoft.com/office/drawing/2014/main" id="{07014B09-B0A3-1D33-CB31-2C0068628F97}"/>
                </a:ext>
              </a:extLst>
            </p:cNvPr>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24" name="Group 21">
            <a:extLst>
              <a:ext uri="{FF2B5EF4-FFF2-40B4-BE49-F238E27FC236}">
                <a16:creationId xmlns:a16="http://schemas.microsoft.com/office/drawing/2014/main" id="{9C396115-80E3-A7A4-43D8-AED48E72F7B8}"/>
              </a:ext>
            </a:extLst>
          </p:cNvPr>
          <p:cNvGrpSpPr/>
          <p:nvPr/>
        </p:nvGrpSpPr>
        <p:grpSpPr>
          <a:xfrm>
            <a:off x="6515158" y="1196360"/>
            <a:ext cx="66042" cy="66042"/>
            <a:chOff x="0" y="0"/>
            <a:chExt cx="812800" cy="812800"/>
          </a:xfrm>
        </p:grpSpPr>
        <p:sp>
          <p:nvSpPr>
            <p:cNvPr id="25" name="Freeform 22">
              <a:extLst>
                <a:ext uri="{FF2B5EF4-FFF2-40B4-BE49-F238E27FC236}">
                  <a16:creationId xmlns:a16="http://schemas.microsoft.com/office/drawing/2014/main" id="{8D002E64-F6F9-12F0-BCFC-2F998C9FAA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6" name="TextBox 23">
              <a:extLst>
                <a:ext uri="{FF2B5EF4-FFF2-40B4-BE49-F238E27FC236}">
                  <a16:creationId xmlns:a16="http://schemas.microsoft.com/office/drawing/2014/main" id="{1D4CA594-02A5-CAC7-8297-E29F3FA08576}"/>
                </a:ext>
              </a:extLst>
            </p:cNvPr>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sp>
        <p:nvSpPr>
          <p:cNvPr id="9" name="Chỗ dành sẵn cho Số hiệu Bản chiếu 8">
            <a:extLst>
              <a:ext uri="{FF2B5EF4-FFF2-40B4-BE49-F238E27FC236}">
                <a16:creationId xmlns:a16="http://schemas.microsoft.com/office/drawing/2014/main" id="{FAB03450-A7A3-F011-11FD-F5DFDE73094C}"/>
              </a:ext>
            </a:extLst>
          </p:cNvPr>
          <p:cNvSpPr>
            <a:spLocks noGrp="1"/>
          </p:cNvSpPr>
          <p:nvPr>
            <p:ph type="sldNum" sz="quarter" idx="12"/>
          </p:nvPr>
        </p:nvSpPr>
        <p:spPr/>
        <p:txBody>
          <a:bodyPr/>
          <a:lstStyle/>
          <a:p>
            <a:fld id="{47EAD358-37BE-4FE3-9163-1C89D475336D}" type="slidenum">
              <a:rPr lang="en-AE" smtClean="0"/>
              <a:t>15</a:t>
            </a:fld>
            <a:endParaRPr lang="en-AE"/>
          </a:p>
        </p:txBody>
      </p:sp>
    </p:spTree>
    <p:extLst>
      <p:ext uri="{BB962C8B-B14F-4D97-AF65-F5344CB8AC3E}">
        <p14:creationId xmlns:p14="http://schemas.microsoft.com/office/powerpoint/2010/main" val="3252245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330B3-71DC-0B27-7570-22AEF009EB29}"/>
            </a:ext>
          </a:extLst>
        </p:cNvPr>
        <p:cNvGrpSpPr/>
        <p:nvPr/>
      </p:nvGrpSpPr>
      <p:grpSpPr>
        <a:xfrm>
          <a:off x="0" y="0"/>
          <a:ext cx="0" cy="0"/>
          <a:chOff x="0" y="0"/>
          <a:chExt cx="0" cy="0"/>
        </a:xfrm>
      </p:grpSpPr>
      <p:grpSp>
        <p:nvGrpSpPr>
          <p:cNvPr id="2" name="Group 14">
            <a:extLst>
              <a:ext uri="{FF2B5EF4-FFF2-40B4-BE49-F238E27FC236}">
                <a16:creationId xmlns:a16="http://schemas.microsoft.com/office/drawing/2014/main" id="{6144BB6F-65F9-6A95-B639-4E465CB9F7BF}"/>
              </a:ext>
            </a:extLst>
          </p:cNvPr>
          <p:cNvGrpSpPr/>
          <p:nvPr/>
        </p:nvGrpSpPr>
        <p:grpSpPr>
          <a:xfrm>
            <a:off x="11948774" y="5685748"/>
            <a:ext cx="486453" cy="486453"/>
            <a:chOff x="0" y="0"/>
            <a:chExt cx="812800" cy="812800"/>
          </a:xfrm>
        </p:grpSpPr>
        <p:sp>
          <p:nvSpPr>
            <p:cNvPr id="3" name="Freeform 15">
              <a:extLst>
                <a:ext uri="{FF2B5EF4-FFF2-40B4-BE49-F238E27FC236}">
                  <a16:creationId xmlns:a16="http://schemas.microsoft.com/office/drawing/2014/main" id="{750445CD-38D6-EB47-20EA-5E00D4C2E9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4" name="TextBox 16">
              <a:extLst>
                <a:ext uri="{FF2B5EF4-FFF2-40B4-BE49-F238E27FC236}">
                  <a16:creationId xmlns:a16="http://schemas.microsoft.com/office/drawing/2014/main" id="{AB7B0976-075E-3E63-5D92-777B67EFEA2F}"/>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5" name="Picture 2" descr="KHOA ĐIỆN TỬ VIỄN THÔNG">
            <a:extLst>
              <a:ext uri="{FF2B5EF4-FFF2-40B4-BE49-F238E27FC236}">
                <a16:creationId xmlns:a16="http://schemas.microsoft.com/office/drawing/2014/main" id="{D1430482-1F4A-F4C9-0522-35EFC9F3C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pic>
        <p:nvPicPr>
          <p:cNvPr id="6" name="Hình ảnh 1" descr="Ảnh có chứa văn bản, ảnh chụp màn hình, bức thư&#10;&#10;Nội dung do AI tạo ra có thể không chính xác.">
            <a:extLst>
              <a:ext uri="{FF2B5EF4-FFF2-40B4-BE49-F238E27FC236}">
                <a16:creationId xmlns:a16="http://schemas.microsoft.com/office/drawing/2014/main" id="{258CCB65-BA78-C418-8B92-37D53B621E18}"/>
              </a:ext>
            </a:extLst>
          </p:cNvPr>
          <p:cNvPicPr>
            <a:picLocks noChangeAspect="1"/>
          </p:cNvPicPr>
          <p:nvPr/>
        </p:nvPicPr>
        <p:blipFill>
          <a:blip r:embed="rId3"/>
          <a:stretch>
            <a:fillRect/>
          </a:stretch>
        </p:blipFill>
        <p:spPr>
          <a:xfrm>
            <a:off x="1120878" y="1513460"/>
            <a:ext cx="2502909" cy="5233623"/>
          </a:xfrm>
          <a:prstGeom prst="rect">
            <a:avLst/>
          </a:prstGeom>
        </p:spPr>
      </p:pic>
      <p:pic>
        <p:nvPicPr>
          <p:cNvPr id="7" name="Hình ảnh 1" descr="Ảnh có chứa ảnh chụp màn hình, văn bản, thiết kế&#10;&#10;Nội dung do AI tạo ra có thể không chính xác.">
            <a:extLst>
              <a:ext uri="{FF2B5EF4-FFF2-40B4-BE49-F238E27FC236}">
                <a16:creationId xmlns:a16="http://schemas.microsoft.com/office/drawing/2014/main" id="{A5F40252-B31F-0782-78E0-72C79E3812B4}"/>
              </a:ext>
            </a:extLst>
          </p:cNvPr>
          <p:cNvPicPr>
            <a:picLocks noChangeAspect="1"/>
          </p:cNvPicPr>
          <p:nvPr/>
        </p:nvPicPr>
        <p:blipFill>
          <a:blip r:embed="rId4"/>
          <a:stretch>
            <a:fillRect/>
          </a:stretch>
        </p:blipFill>
        <p:spPr>
          <a:xfrm>
            <a:off x="4844545" y="1513460"/>
            <a:ext cx="2585297" cy="5198726"/>
          </a:xfrm>
          <a:prstGeom prst="rect">
            <a:avLst/>
          </a:prstGeom>
        </p:spPr>
      </p:pic>
      <p:pic>
        <p:nvPicPr>
          <p:cNvPr id="20" name="Hình ảnh 1">
            <a:extLst>
              <a:ext uri="{FF2B5EF4-FFF2-40B4-BE49-F238E27FC236}">
                <a16:creationId xmlns:a16="http://schemas.microsoft.com/office/drawing/2014/main" id="{A8019170-A618-E3CF-62EE-23CA0AE2C0EC}"/>
              </a:ext>
            </a:extLst>
          </p:cNvPr>
          <p:cNvPicPr>
            <a:picLocks noChangeAspect="1"/>
          </p:cNvPicPr>
          <p:nvPr/>
        </p:nvPicPr>
        <p:blipFill>
          <a:blip r:embed="rId5"/>
          <a:stretch>
            <a:fillRect/>
          </a:stretch>
        </p:blipFill>
        <p:spPr>
          <a:xfrm>
            <a:off x="8568212" y="1513460"/>
            <a:ext cx="2502908" cy="5244748"/>
          </a:xfrm>
          <a:prstGeom prst="rect">
            <a:avLst/>
          </a:prstGeom>
        </p:spPr>
      </p:pic>
      <p:sp>
        <p:nvSpPr>
          <p:cNvPr id="21" name="TextBox 17">
            <a:extLst>
              <a:ext uri="{FF2B5EF4-FFF2-40B4-BE49-F238E27FC236}">
                <a16:creationId xmlns:a16="http://schemas.microsoft.com/office/drawing/2014/main" id="{4DA69E71-56FD-CF68-03E8-78B10A83E48A}"/>
              </a:ext>
            </a:extLst>
          </p:cNvPr>
          <p:cNvSpPr txBox="1"/>
          <p:nvPr/>
        </p:nvSpPr>
        <p:spPr>
          <a:xfrm>
            <a:off x="891928" y="372523"/>
            <a:ext cx="10408143" cy="666401"/>
          </a:xfrm>
          <a:prstGeom prst="rect">
            <a:avLst/>
          </a:prstGeom>
        </p:spPr>
        <p:txBody>
          <a:bodyPr wrap="square" lIns="0" tIns="0" rIns="0" bIns="0" rtlCol="0" anchor="t">
            <a:spAutoFit/>
          </a:bodyPr>
          <a:lstStyle/>
          <a:p>
            <a:pPr algn="ctr">
              <a:lnSpc>
                <a:spcPts val="5667"/>
              </a:lnSpc>
              <a:spcBef>
                <a:spcPct val="0"/>
              </a:spcBef>
            </a:pPr>
            <a:r>
              <a:rPr lang="en-US" sz="4048" b="1" noProof="1">
                <a:latin typeface="Arial" panose="020B0604020202020204" pitchFamily="34" charset="0"/>
                <a:ea typeface="Century Gothic Paneuropean Bold"/>
                <a:cs typeface="Arial" panose="020B0604020202020204" pitchFamily="34" charset="0"/>
                <a:sym typeface="Century Gothic Paneuropean Bold"/>
              </a:rPr>
              <a:t>IV. </a:t>
            </a:r>
            <a:r>
              <a:rPr lang="vi-VN" sz="4048" b="1" noProof="1">
                <a:latin typeface="Arial" panose="020B0604020202020204" pitchFamily="34" charset="0"/>
                <a:ea typeface="Century Gothic Paneuropean Bold"/>
                <a:cs typeface="Arial" panose="020B0604020202020204" pitchFamily="34" charset="0"/>
                <a:sym typeface="Century Gothic Paneuropean Bold"/>
              </a:rPr>
              <a:t>GetX routing và navigation​</a:t>
            </a:r>
          </a:p>
        </p:txBody>
      </p:sp>
      <p:grpSp>
        <p:nvGrpSpPr>
          <p:cNvPr id="22" name="Group 18">
            <a:extLst>
              <a:ext uri="{FF2B5EF4-FFF2-40B4-BE49-F238E27FC236}">
                <a16:creationId xmlns:a16="http://schemas.microsoft.com/office/drawing/2014/main" id="{D053F418-32B2-157F-4C70-2092E1359ADD}"/>
              </a:ext>
            </a:extLst>
          </p:cNvPr>
          <p:cNvGrpSpPr/>
          <p:nvPr/>
        </p:nvGrpSpPr>
        <p:grpSpPr>
          <a:xfrm>
            <a:off x="5721839" y="1201727"/>
            <a:ext cx="653967" cy="66042"/>
            <a:chOff x="0" y="0"/>
            <a:chExt cx="258358" cy="26091"/>
          </a:xfrm>
        </p:grpSpPr>
        <p:sp>
          <p:nvSpPr>
            <p:cNvPr id="23" name="Freeform 19">
              <a:extLst>
                <a:ext uri="{FF2B5EF4-FFF2-40B4-BE49-F238E27FC236}">
                  <a16:creationId xmlns:a16="http://schemas.microsoft.com/office/drawing/2014/main" id="{F279310B-9964-EBBF-B6CF-209E715F63F4}"/>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24" name="TextBox 20">
              <a:extLst>
                <a:ext uri="{FF2B5EF4-FFF2-40B4-BE49-F238E27FC236}">
                  <a16:creationId xmlns:a16="http://schemas.microsoft.com/office/drawing/2014/main" id="{ACDEC637-2B3D-110D-5ECA-7955F096B030}"/>
                </a:ext>
              </a:extLst>
            </p:cNvPr>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25" name="Group 21">
            <a:extLst>
              <a:ext uri="{FF2B5EF4-FFF2-40B4-BE49-F238E27FC236}">
                <a16:creationId xmlns:a16="http://schemas.microsoft.com/office/drawing/2014/main" id="{3C4B6D7A-25A2-FBE7-FF8D-1DDB5D359FDC}"/>
              </a:ext>
            </a:extLst>
          </p:cNvPr>
          <p:cNvGrpSpPr/>
          <p:nvPr/>
        </p:nvGrpSpPr>
        <p:grpSpPr>
          <a:xfrm>
            <a:off x="6515158" y="1196360"/>
            <a:ext cx="66042" cy="66042"/>
            <a:chOff x="0" y="0"/>
            <a:chExt cx="812800" cy="812800"/>
          </a:xfrm>
        </p:grpSpPr>
        <p:sp>
          <p:nvSpPr>
            <p:cNvPr id="26" name="Freeform 22">
              <a:extLst>
                <a:ext uri="{FF2B5EF4-FFF2-40B4-BE49-F238E27FC236}">
                  <a16:creationId xmlns:a16="http://schemas.microsoft.com/office/drawing/2014/main" id="{08B9F4F2-B20D-A445-0331-645B8615C6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7" name="TextBox 23">
              <a:extLst>
                <a:ext uri="{FF2B5EF4-FFF2-40B4-BE49-F238E27FC236}">
                  <a16:creationId xmlns:a16="http://schemas.microsoft.com/office/drawing/2014/main" id="{FC27642B-A100-6ECE-5B50-77F555EF5E6C}"/>
                </a:ext>
              </a:extLst>
            </p:cNvPr>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sp>
        <p:nvSpPr>
          <p:cNvPr id="9" name="Chỗ dành sẵn cho Số hiệu Bản chiếu 8">
            <a:extLst>
              <a:ext uri="{FF2B5EF4-FFF2-40B4-BE49-F238E27FC236}">
                <a16:creationId xmlns:a16="http://schemas.microsoft.com/office/drawing/2014/main" id="{7496A2E6-927E-210C-D8F9-FD46B72B69E2}"/>
              </a:ext>
            </a:extLst>
          </p:cNvPr>
          <p:cNvSpPr>
            <a:spLocks noGrp="1"/>
          </p:cNvSpPr>
          <p:nvPr>
            <p:ph type="sldNum" sz="quarter" idx="12"/>
          </p:nvPr>
        </p:nvSpPr>
        <p:spPr/>
        <p:txBody>
          <a:bodyPr/>
          <a:lstStyle/>
          <a:p>
            <a:fld id="{47EAD358-37BE-4FE3-9163-1C89D475336D}" type="slidenum">
              <a:rPr lang="en-AE" smtClean="0"/>
              <a:t>16</a:t>
            </a:fld>
            <a:endParaRPr lang="en-AE"/>
          </a:p>
        </p:txBody>
      </p:sp>
    </p:spTree>
    <p:extLst>
      <p:ext uri="{BB962C8B-B14F-4D97-AF65-F5344CB8AC3E}">
        <p14:creationId xmlns:p14="http://schemas.microsoft.com/office/powerpoint/2010/main" val="125578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E3725-C119-C1E5-40A7-B8E998F9C810}"/>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8FAA9ACB-9EC8-6B36-AD95-8B3FB379AF23}"/>
              </a:ext>
            </a:extLst>
          </p:cNvPr>
          <p:cNvGrpSpPr/>
          <p:nvPr/>
        </p:nvGrpSpPr>
        <p:grpSpPr>
          <a:xfrm>
            <a:off x="11948774" y="5685748"/>
            <a:ext cx="486453" cy="486453"/>
            <a:chOff x="0" y="0"/>
            <a:chExt cx="812800" cy="812800"/>
          </a:xfrm>
        </p:grpSpPr>
        <p:sp>
          <p:nvSpPr>
            <p:cNvPr id="15" name="Freeform 15">
              <a:extLst>
                <a:ext uri="{FF2B5EF4-FFF2-40B4-BE49-F238E27FC236}">
                  <a16:creationId xmlns:a16="http://schemas.microsoft.com/office/drawing/2014/main" id="{58D1501B-BE30-F079-2EDE-B868FF1ED46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16" name="TextBox 16">
              <a:extLst>
                <a:ext uri="{FF2B5EF4-FFF2-40B4-BE49-F238E27FC236}">
                  <a16:creationId xmlns:a16="http://schemas.microsoft.com/office/drawing/2014/main" id="{0CA77F4A-54FF-4D02-C0D8-341B021DAB35}"/>
                </a:ext>
              </a:extLst>
            </p:cNvPr>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17" name="TextBox 17">
            <a:extLst>
              <a:ext uri="{FF2B5EF4-FFF2-40B4-BE49-F238E27FC236}">
                <a16:creationId xmlns:a16="http://schemas.microsoft.com/office/drawing/2014/main" id="{997E1958-C8C4-B2C7-926A-58471A65249D}"/>
              </a:ext>
            </a:extLst>
          </p:cNvPr>
          <p:cNvSpPr txBox="1"/>
          <p:nvPr/>
        </p:nvSpPr>
        <p:spPr>
          <a:xfrm>
            <a:off x="355600" y="1201191"/>
            <a:ext cx="11345485" cy="666401"/>
          </a:xfrm>
          <a:prstGeom prst="rect">
            <a:avLst/>
          </a:prstGeom>
        </p:spPr>
        <p:txBody>
          <a:bodyPr wrap="square" lIns="0" tIns="0" rIns="0" bIns="0" rtlCol="0" anchor="t">
            <a:spAutoFit/>
          </a:bodyPr>
          <a:lstStyle/>
          <a:p>
            <a:pPr algn="ctr">
              <a:lnSpc>
                <a:spcPts val="5667"/>
              </a:lnSpc>
              <a:spcBef>
                <a:spcPct val="0"/>
              </a:spcBef>
            </a:pPr>
            <a:r>
              <a:rPr lang="vi-VN" sz="4048" b="1" noProof="1">
                <a:latin typeface="Arial" panose="020B0604020202020204" pitchFamily="34" charset="0"/>
                <a:ea typeface="Century Gothic Paneuropean Bold"/>
                <a:cs typeface="Arial" panose="020B0604020202020204" pitchFamily="34" charset="0"/>
                <a:sym typeface="Century Gothic Paneuropean Bold"/>
              </a:rPr>
              <a:t>VI. Tài liệu tham khảo</a:t>
            </a:r>
          </a:p>
        </p:txBody>
      </p:sp>
      <p:grpSp>
        <p:nvGrpSpPr>
          <p:cNvPr id="18" name="Group 18">
            <a:extLst>
              <a:ext uri="{FF2B5EF4-FFF2-40B4-BE49-F238E27FC236}">
                <a16:creationId xmlns:a16="http://schemas.microsoft.com/office/drawing/2014/main" id="{042EF3B8-BD5D-F707-A733-52CAC3F23700}"/>
              </a:ext>
            </a:extLst>
          </p:cNvPr>
          <p:cNvGrpSpPr/>
          <p:nvPr/>
        </p:nvGrpSpPr>
        <p:grpSpPr>
          <a:xfrm>
            <a:off x="5721839" y="1978971"/>
            <a:ext cx="653967" cy="66042"/>
            <a:chOff x="0" y="0"/>
            <a:chExt cx="258358" cy="26091"/>
          </a:xfrm>
        </p:grpSpPr>
        <p:sp>
          <p:nvSpPr>
            <p:cNvPr id="19" name="Freeform 19">
              <a:extLst>
                <a:ext uri="{FF2B5EF4-FFF2-40B4-BE49-F238E27FC236}">
                  <a16:creationId xmlns:a16="http://schemas.microsoft.com/office/drawing/2014/main" id="{B2946076-A3BC-699A-4ADA-5A705F26B0AD}"/>
                </a:ext>
              </a:extLst>
            </p:cNvPr>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20" name="TextBox 20">
              <a:extLst>
                <a:ext uri="{FF2B5EF4-FFF2-40B4-BE49-F238E27FC236}">
                  <a16:creationId xmlns:a16="http://schemas.microsoft.com/office/drawing/2014/main" id="{DB674C58-0361-B245-8B13-C28FFF7CAEFA}"/>
                </a:ext>
              </a:extLst>
            </p:cNvPr>
            <p:cNvSpPr txBox="1"/>
            <p:nvPr/>
          </p:nvSpPr>
          <p:spPr>
            <a:xfrm>
              <a:off x="0" y="-38100"/>
              <a:ext cx="258358" cy="64191"/>
            </a:xfrm>
            <a:prstGeom prst="rect">
              <a:avLst/>
            </a:prstGeom>
          </p:spPr>
          <p:txBody>
            <a:bodyPr lIns="33867" tIns="33867" rIns="33867" bIns="33867" rtlCol="0" anchor="ctr"/>
            <a:lstStyle/>
            <a:p>
              <a:pPr algn="r">
                <a:lnSpc>
                  <a:spcPts val="1773"/>
                </a:lnSpc>
              </a:pPr>
              <a:endParaRPr lang="vi-VN" sz="1200" noProof="1"/>
            </a:p>
          </p:txBody>
        </p:sp>
      </p:grpSp>
      <p:grpSp>
        <p:nvGrpSpPr>
          <p:cNvPr id="21" name="Group 21">
            <a:extLst>
              <a:ext uri="{FF2B5EF4-FFF2-40B4-BE49-F238E27FC236}">
                <a16:creationId xmlns:a16="http://schemas.microsoft.com/office/drawing/2014/main" id="{B16EE3C9-1910-5265-31B4-0EC32C83A2D9}"/>
              </a:ext>
            </a:extLst>
          </p:cNvPr>
          <p:cNvGrpSpPr/>
          <p:nvPr/>
        </p:nvGrpSpPr>
        <p:grpSpPr>
          <a:xfrm>
            <a:off x="6404120" y="1978971"/>
            <a:ext cx="66042" cy="66042"/>
            <a:chOff x="0" y="0"/>
            <a:chExt cx="812800" cy="812800"/>
          </a:xfrm>
        </p:grpSpPr>
        <p:sp>
          <p:nvSpPr>
            <p:cNvPr id="22" name="Freeform 22">
              <a:extLst>
                <a:ext uri="{FF2B5EF4-FFF2-40B4-BE49-F238E27FC236}">
                  <a16:creationId xmlns:a16="http://schemas.microsoft.com/office/drawing/2014/main" id="{B45207BE-3BCF-1D37-F952-A75BEE769C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23" name="TextBox 23">
              <a:extLst>
                <a:ext uri="{FF2B5EF4-FFF2-40B4-BE49-F238E27FC236}">
                  <a16:creationId xmlns:a16="http://schemas.microsoft.com/office/drawing/2014/main" id="{A77263A2-BEA8-8437-F76A-13525E23C6DD}"/>
                </a:ext>
              </a:extLst>
            </p:cNvPr>
            <p:cNvSpPr txBox="1"/>
            <p:nvPr/>
          </p:nvSpPr>
          <p:spPr>
            <a:xfrm>
              <a:off x="76200" y="38100"/>
              <a:ext cx="660400" cy="698500"/>
            </a:xfrm>
            <a:prstGeom prst="rect">
              <a:avLst/>
            </a:prstGeom>
          </p:spPr>
          <p:txBody>
            <a:bodyPr lIns="33867" tIns="33867" rIns="33867" bIns="33867" rtlCol="0" anchor="ctr"/>
            <a:lstStyle/>
            <a:p>
              <a:pPr algn="r">
                <a:lnSpc>
                  <a:spcPts val="1773"/>
                </a:lnSpc>
              </a:pPr>
              <a:endParaRPr lang="vi-VN" sz="1200" noProof="1"/>
            </a:p>
          </p:txBody>
        </p:sp>
      </p:grpSp>
      <p:pic>
        <p:nvPicPr>
          <p:cNvPr id="1026" name="Picture 2" descr="KHOA ĐIỆN TỬ VIỄN THÔNG">
            <a:extLst>
              <a:ext uri="{FF2B5EF4-FFF2-40B4-BE49-F238E27FC236}">
                <a16:creationId xmlns:a16="http://schemas.microsoft.com/office/drawing/2014/main" id="{A68DE76A-AEF7-1B80-4EAD-BFCB360E6E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hidden="1">
            <a:extLst>
              <a:ext uri="{FF2B5EF4-FFF2-40B4-BE49-F238E27FC236}">
                <a16:creationId xmlns:a16="http://schemas.microsoft.com/office/drawing/2014/main" id="{24215254-18B9-D966-A11C-45778AE783B0}"/>
              </a:ext>
            </a:extLst>
          </p:cNvPr>
          <p:cNvSpPr txBox="1"/>
          <p:nvPr/>
        </p:nvSpPr>
        <p:spPr>
          <a:xfrm>
            <a:off x="2028427" y="2159620"/>
            <a:ext cx="8817428" cy="4114844"/>
          </a:xfrm>
          <a:prstGeom prst="rect">
            <a:avLst/>
          </a:prstGeom>
          <a:noFill/>
        </p:spPr>
        <p:txBody>
          <a:bodyPr wrap="square">
            <a:spAutoFit/>
          </a:bodyPr>
          <a:lstStyle/>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[1] A. Canziani, A. Paszke and E. Culurciello (2016), “An analysis of deep neural </a:t>
            </a: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network models for practical applications”, </a:t>
            </a:r>
            <a:r>
              <a:rPr lang="vi-VN" sz="1867" i="1" noProof="1">
                <a:solidFill>
                  <a:schemeClr val="bg1"/>
                </a:solidFill>
                <a:latin typeface="Open Sans" panose="020B0606030504020204" pitchFamily="34" charset="0"/>
                <a:ea typeface="Open Sans" panose="020B0606030504020204" pitchFamily="34" charset="0"/>
                <a:cs typeface="Open Sans" panose="020B0606030504020204" pitchFamily="34" charset="0"/>
              </a:rPr>
              <a:t>arXiv preprint arXiv:1605.07678.ss </a:t>
            </a:r>
          </a:p>
          <a:p>
            <a:endPar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endParaRP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[2] Y. Jia, E. Shelhamer, J. Donahue, S. Karayev, J. Long, R. Girshick, S. </a:t>
            </a: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Guadarrama, T. Darrell Caffe (2014), “Convolutional Architecture for Fast Feature”,</a:t>
            </a:r>
            <a:r>
              <a:rPr lang="vi-VN" sz="1867" i="1" noProof="1">
                <a:solidFill>
                  <a:schemeClr val="bg1"/>
                </a:solidFill>
                <a:latin typeface="Open Sans" panose="020B0606030504020204" pitchFamily="34" charset="0"/>
                <a:ea typeface="Open Sans" panose="020B0606030504020204" pitchFamily="34" charset="0"/>
                <a:cs typeface="Open Sans" panose="020B0606030504020204" pitchFamily="34" charset="0"/>
              </a:rPr>
              <a:t>Embedding arXiv:1408.5093. </a:t>
            </a:r>
          </a:p>
          <a:p>
            <a:endPar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endParaRP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[3] Y. Sun, X. Wang and X. Tang (2014), “Deep learning face representation by </a:t>
            </a: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joint identification-verification”, </a:t>
            </a:r>
            <a:r>
              <a:rPr lang="vi-VN" sz="1867" i="1" noProof="1">
                <a:solidFill>
                  <a:schemeClr val="bg1"/>
                </a:solidFill>
                <a:latin typeface="Open Sans" panose="020B0606030504020204" pitchFamily="34" charset="0"/>
                <a:ea typeface="Open Sans" panose="020B0606030504020204" pitchFamily="34" charset="0"/>
                <a:cs typeface="Open Sans" panose="020B0606030504020204" pitchFamily="34" charset="0"/>
              </a:rPr>
              <a:t>CoRR, abs/1406.4773. </a:t>
            </a:r>
          </a:p>
          <a:p>
            <a:endPar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endParaRP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[4] Đoàn Hồng Quang, Lê Hồng Minh, Chu Anh Tuấn (2015), “Nhận dạng bàn </a:t>
            </a:r>
          </a:p>
          <a:p>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tay bằng mạng nơ ron nhân tạo”, </a:t>
            </a:r>
            <a:r>
              <a:rPr lang="vi-VN" sz="1867" i="1" noProof="1">
                <a:solidFill>
                  <a:schemeClr val="bg1"/>
                </a:solidFill>
                <a:latin typeface="Open Sans" panose="020B0606030504020204" pitchFamily="34" charset="0"/>
                <a:ea typeface="Open Sans" panose="020B0606030504020204" pitchFamily="34" charset="0"/>
                <a:cs typeface="Open Sans" panose="020B0606030504020204" pitchFamily="34" charset="0"/>
              </a:rPr>
              <a:t>Tuyển tập báo cáo Diễn đàn “Đổi mới - Chìa khóa cho sự phát triển bền vững”</a:t>
            </a:r>
            <a:r>
              <a:rPr lang="vi-VN" sz="1867" noProof="1">
                <a:solidFill>
                  <a:schemeClr val="bg1"/>
                </a:solidFill>
                <a:latin typeface="Open Sans" panose="020B0606030504020204" pitchFamily="34" charset="0"/>
                <a:ea typeface="Open Sans" panose="020B0606030504020204" pitchFamily="34" charset="0"/>
                <a:cs typeface="Open Sans" panose="020B0606030504020204" pitchFamily="34" charset="0"/>
              </a:rPr>
              <a:t>, Viện Ứng dụng Công nghệ, Bộ Khoa học và Công nghệ. </a:t>
            </a:r>
          </a:p>
        </p:txBody>
      </p:sp>
      <p:sp>
        <p:nvSpPr>
          <p:cNvPr id="8" name="TextBox 7">
            <a:extLst>
              <a:ext uri="{FF2B5EF4-FFF2-40B4-BE49-F238E27FC236}">
                <a16:creationId xmlns:a16="http://schemas.microsoft.com/office/drawing/2014/main" id="{848AD82B-0CF7-F1D6-204A-A0D8805D9B41}"/>
              </a:ext>
            </a:extLst>
          </p:cNvPr>
          <p:cNvSpPr txBox="1"/>
          <p:nvPr/>
        </p:nvSpPr>
        <p:spPr>
          <a:xfrm>
            <a:off x="2028427" y="2159620"/>
            <a:ext cx="8817428" cy="1816266"/>
          </a:xfrm>
          <a:prstGeom prst="rect">
            <a:avLst/>
          </a:prstGeom>
          <a:noFill/>
        </p:spPr>
        <p:txBody>
          <a:bodyPr wrap="square">
            <a:spAutoFit/>
          </a:bodyPr>
          <a:lstStyle/>
          <a:p>
            <a:r>
              <a:rPr lang="vi-VN" sz="1867" noProof="1">
                <a:latin typeface="Open Sans" panose="020B0606030504020204" pitchFamily="34" charset="0"/>
                <a:ea typeface="Open Sans" panose="020B0606030504020204" pitchFamily="34" charset="0"/>
                <a:cs typeface="Open Sans" panose="020B0606030504020204" pitchFamily="34" charset="0"/>
              </a:rPr>
              <a:t>[1] Slide Bài giảng của Thầy viễn </a:t>
            </a:r>
          </a:p>
          <a:p>
            <a:r>
              <a:rPr lang="vi-VN" sz="1867" noProof="1">
                <a:latin typeface="Open Sans" panose="020B0606030504020204" pitchFamily="34" charset="0"/>
                <a:ea typeface="Open Sans" panose="020B0606030504020204" pitchFamily="34" charset="0"/>
                <a:cs typeface="Open Sans" panose="020B0606030504020204" pitchFamily="34" charset="0"/>
              </a:rPr>
              <a:t>https://drive.google.com/file/d/1PMQm5DOBg1ZM6Z6BWeE5G6vBzOg6-4Ib/view?usp=sharing </a:t>
            </a:r>
            <a:endParaRPr lang="en-US" sz="1867" noProof="1">
              <a:latin typeface="Open Sans" panose="020B0606030504020204" pitchFamily="34" charset="0"/>
              <a:ea typeface="Open Sans" panose="020B0606030504020204" pitchFamily="34" charset="0"/>
              <a:cs typeface="Open Sans" panose="020B0606030504020204" pitchFamily="34" charset="0"/>
            </a:endParaRPr>
          </a:p>
          <a:p>
            <a:endParaRPr lang="vi-VN" sz="1867" noProof="1">
              <a:latin typeface="Open Sans" panose="020B0606030504020204" pitchFamily="34" charset="0"/>
              <a:ea typeface="Open Sans" panose="020B0606030504020204" pitchFamily="34" charset="0"/>
              <a:cs typeface="Open Sans" panose="020B0606030504020204" pitchFamily="34" charset="0"/>
            </a:endParaRPr>
          </a:p>
          <a:p>
            <a:r>
              <a:rPr lang="vi-VN" sz="1867" noProof="1">
                <a:latin typeface="Open Sans" panose="020B0606030504020204" pitchFamily="34" charset="0"/>
                <a:ea typeface="Open Sans" panose="020B0606030504020204" pitchFamily="34" charset="0"/>
                <a:cs typeface="Open Sans" panose="020B0606030504020204" pitchFamily="34" charset="0"/>
              </a:rPr>
              <a:t>[2] Tài liệu trong trang chủ Flutter </a:t>
            </a:r>
          </a:p>
          <a:p>
            <a:r>
              <a:rPr lang="vi-VN" sz="1867" noProof="1">
                <a:latin typeface="Open Sans" panose="020B0606030504020204" pitchFamily="34" charset="0"/>
                <a:ea typeface="Open Sans" panose="020B0606030504020204" pitchFamily="34" charset="0"/>
                <a:cs typeface="Open Sans" panose="020B0606030504020204" pitchFamily="34" charset="0"/>
              </a:rPr>
              <a:t>get | Flutter package</a:t>
            </a:r>
          </a:p>
        </p:txBody>
      </p:sp>
      <p:sp>
        <p:nvSpPr>
          <p:cNvPr id="3" name="Chỗ dành sẵn cho Số hiệu Bản chiếu 2">
            <a:extLst>
              <a:ext uri="{FF2B5EF4-FFF2-40B4-BE49-F238E27FC236}">
                <a16:creationId xmlns:a16="http://schemas.microsoft.com/office/drawing/2014/main" id="{F36A23CC-0741-391B-C911-77BD32825D01}"/>
              </a:ext>
            </a:extLst>
          </p:cNvPr>
          <p:cNvSpPr>
            <a:spLocks noGrp="1"/>
          </p:cNvSpPr>
          <p:nvPr>
            <p:ph type="sldNum" sz="quarter" idx="12"/>
          </p:nvPr>
        </p:nvSpPr>
        <p:spPr/>
        <p:txBody>
          <a:bodyPr/>
          <a:lstStyle/>
          <a:p>
            <a:fld id="{47EAD358-37BE-4FE3-9163-1C89D475336D}" type="slidenum">
              <a:rPr lang="en-AE" smtClean="0"/>
              <a:t>17</a:t>
            </a:fld>
            <a:endParaRPr lang="en-AE"/>
          </a:p>
        </p:txBody>
      </p:sp>
    </p:spTree>
    <p:extLst>
      <p:ext uri="{BB962C8B-B14F-4D97-AF65-F5344CB8AC3E}">
        <p14:creationId xmlns:p14="http://schemas.microsoft.com/office/powerpoint/2010/main" val="2120488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5827560" y="3909906"/>
            <a:ext cx="2057400" cy="2057400"/>
            <a:chOff x="0" y="0"/>
            <a:chExt cx="812800" cy="812800"/>
          </a:xfrm>
        </p:grpSpPr>
        <p:sp>
          <p:nvSpPr>
            <p:cNvPr id="10" name="Freeform 10"/>
            <p:cNvSpPr/>
            <p:nvPr/>
          </p:nvSpPr>
          <p:spPr>
            <a:xfrm>
              <a:off x="0" y="0"/>
              <a:ext cx="812800" cy="812800"/>
            </a:xfrm>
            <a:custGeom>
              <a:avLst/>
              <a:gdLst/>
              <a:ahLst/>
              <a:cxnLst/>
              <a:rect l="l" t="t" r="r" b="b"/>
              <a:pathLst>
                <a:path w="812800" h="812800">
                  <a:moveTo>
                    <a:pt x="65225" y="0"/>
                  </a:moveTo>
                  <a:lnTo>
                    <a:pt x="747575" y="0"/>
                  </a:lnTo>
                  <a:cubicBezTo>
                    <a:pt x="783598" y="0"/>
                    <a:pt x="812800" y="29202"/>
                    <a:pt x="812800" y="65225"/>
                  </a:cubicBezTo>
                  <a:lnTo>
                    <a:pt x="812800" y="747575"/>
                  </a:lnTo>
                  <a:cubicBezTo>
                    <a:pt x="812800" y="783598"/>
                    <a:pt x="783598" y="812800"/>
                    <a:pt x="747575" y="812800"/>
                  </a:cubicBezTo>
                  <a:lnTo>
                    <a:pt x="65225" y="812800"/>
                  </a:lnTo>
                  <a:cubicBezTo>
                    <a:pt x="29202" y="812800"/>
                    <a:pt x="0" y="783598"/>
                    <a:pt x="0" y="747575"/>
                  </a:cubicBezTo>
                  <a:lnTo>
                    <a:pt x="0" y="65225"/>
                  </a:lnTo>
                  <a:cubicBezTo>
                    <a:pt x="0" y="29202"/>
                    <a:pt x="29202" y="0"/>
                    <a:pt x="65225" y="0"/>
                  </a:cubicBezTo>
                  <a:close/>
                </a:path>
              </a:pathLst>
            </a:custGeom>
            <a:solidFill>
              <a:srgbClr val="7AC4FF"/>
            </a:solidFill>
          </p:spPr>
          <p:txBody>
            <a:bodyPr/>
            <a:lstStyle/>
            <a:p>
              <a:endParaRPr lang="vi-VN" sz="1200" noProof="1"/>
            </a:p>
          </p:txBody>
        </p:sp>
        <p:sp>
          <p:nvSpPr>
            <p:cNvPr id="11" name="TextBox 11"/>
            <p:cNvSpPr txBox="1"/>
            <p:nvPr/>
          </p:nvSpPr>
          <p:spPr>
            <a:xfrm>
              <a:off x="0" y="-38100"/>
              <a:ext cx="812800" cy="850900"/>
            </a:xfrm>
            <a:prstGeom prst="rect">
              <a:avLst/>
            </a:prstGeom>
          </p:spPr>
          <p:txBody>
            <a:bodyPr lIns="33867" tIns="33867" rIns="33867" bIns="33867" rtlCol="0" anchor="ctr"/>
            <a:lstStyle/>
            <a:p>
              <a:pPr algn="ctr">
                <a:lnSpc>
                  <a:spcPts val="1773"/>
                </a:lnSpc>
              </a:pPr>
              <a:endParaRPr lang="vi-VN" sz="1200" noProof="1"/>
            </a:p>
          </p:txBody>
        </p:sp>
      </p:grpSp>
      <p:grpSp>
        <p:nvGrpSpPr>
          <p:cNvPr id="12" name="Group 12"/>
          <p:cNvGrpSpPr/>
          <p:nvPr/>
        </p:nvGrpSpPr>
        <p:grpSpPr>
          <a:xfrm>
            <a:off x="6096000" y="1122777"/>
            <a:ext cx="4612446" cy="4612446"/>
            <a:chOff x="0" y="0"/>
            <a:chExt cx="812800" cy="812800"/>
          </a:xfrm>
        </p:grpSpPr>
        <p:sp>
          <p:nvSpPr>
            <p:cNvPr id="13" name="Freeform 13"/>
            <p:cNvSpPr/>
            <p:nvPr/>
          </p:nvSpPr>
          <p:spPr>
            <a:xfrm>
              <a:off x="0" y="0"/>
              <a:ext cx="812800" cy="812800"/>
            </a:xfrm>
            <a:custGeom>
              <a:avLst/>
              <a:gdLst/>
              <a:ahLst/>
              <a:cxnLst/>
              <a:rect l="l" t="t" r="r" b="b"/>
              <a:pathLst>
                <a:path w="812800" h="812800">
                  <a:moveTo>
                    <a:pt x="25737" y="0"/>
                  </a:moveTo>
                  <a:lnTo>
                    <a:pt x="787063" y="0"/>
                  </a:lnTo>
                  <a:cubicBezTo>
                    <a:pt x="793889" y="0"/>
                    <a:pt x="800435" y="2712"/>
                    <a:pt x="805262" y="7538"/>
                  </a:cubicBezTo>
                  <a:cubicBezTo>
                    <a:pt x="810088" y="12365"/>
                    <a:pt x="812800" y="18911"/>
                    <a:pt x="812800" y="25737"/>
                  </a:cubicBezTo>
                  <a:lnTo>
                    <a:pt x="812800" y="787063"/>
                  </a:lnTo>
                  <a:cubicBezTo>
                    <a:pt x="812800" y="793889"/>
                    <a:pt x="810088" y="800435"/>
                    <a:pt x="805262" y="805262"/>
                  </a:cubicBezTo>
                  <a:cubicBezTo>
                    <a:pt x="800435" y="810088"/>
                    <a:pt x="793889" y="812800"/>
                    <a:pt x="787063" y="812800"/>
                  </a:cubicBezTo>
                  <a:lnTo>
                    <a:pt x="25737" y="812800"/>
                  </a:lnTo>
                  <a:cubicBezTo>
                    <a:pt x="18911" y="812800"/>
                    <a:pt x="12365" y="810088"/>
                    <a:pt x="7538" y="805262"/>
                  </a:cubicBezTo>
                  <a:cubicBezTo>
                    <a:pt x="2712" y="800435"/>
                    <a:pt x="0" y="793889"/>
                    <a:pt x="0" y="787063"/>
                  </a:cubicBezTo>
                  <a:lnTo>
                    <a:pt x="0" y="25737"/>
                  </a:lnTo>
                  <a:cubicBezTo>
                    <a:pt x="0" y="18911"/>
                    <a:pt x="2712" y="12365"/>
                    <a:pt x="7538" y="7538"/>
                  </a:cubicBezTo>
                  <a:cubicBezTo>
                    <a:pt x="12365" y="2712"/>
                    <a:pt x="18911" y="0"/>
                    <a:pt x="25737" y="0"/>
                  </a:cubicBezTo>
                  <a:close/>
                </a:path>
              </a:pathLst>
            </a:custGeom>
            <a:blipFill>
              <a:blip r:embed="rId2"/>
              <a:stretch>
                <a:fillRect r="-49812"/>
              </a:stretch>
            </a:blipFill>
          </p:spPr>
          <p:txBody>
            <a:bodyPr/>
            <a:lstStyle/>
            <a:p>
              <a:endParaRPr lang="vi-VN" sz="1200" noProof="1"/>
            </a:p>
          </p:txBody>
        </p:sp>
      </p:grpSp>
      <p:grpSp>
        <p:nvGrpSpPr>
          <p:cNvPr id="14" name="Group 14"/>
          <p:cNvGrpSpPr/>
          <p:nvPr/>
        </p:nvGrpSpPr>
        <p:grpSpPr>
          <a:xfrm>
            <a:off x="10835834" y="1122777"/>
            <a:ext cx="1515596" cy="4612446"/>
            <a:chOff x="0" y="0"/>
            <a:chExt cx="267077" cy="812800"/>
          </a:xfrm>
        </p:grpSpPr>
        <p:sp>
          <p:nvSpPr>
            <p:cNvPr id="15" name="Freeform 15"/>
            <p:cNvSpPr/>
            <p:nvPr/>
          </p:nvSpPr>
          <p:spPr>
            <a:xfrm>
              <a:off x="0" y="0"/>
              <a:ext cx="267077" cy="812800"/>
            </a:xfrm>
            <a:custGeom>
              <a:avLst/>
              <a:gdLst/>
              <a:ahLst/>
              <a:cxnLst/>
              <a:rect l="l" t="t" r="r" b="b"/>
              <a:pathLst>
                <a:path w="267077" h="812800">
                  <a:moveTo>
                    <a:pt x="78325" y="0"/>
                  </a:moveTo>
                  <a:lnTo>
                    <a:pt x="188751" y="0"/>
                  </a:lnTo>
                  <a:cubicBezTo>
                    <a:pt x="232009" y="0"/>
                    <a:pt x="267077" y="35067"/>
                    <a:pt x="267077" y="78325"/>
                  </a:cubicBezTo>
                  <a:lnTo>
                    <a:pt x="267077" y="734475"/>
                  </a:lnTo>
                  <a:cubicBezTo>
                    <a:pt x="267077" y="777733"/>
                    <a:pt x="232009" y="812800"/>
                    <a:pt x="188751" y="812800"/>
                  </a:cubicBezTo>
                  <a:lnTo>
                    <a:pt x="78325" y="812800"/>
                  </a:lnTo>
                  <a:cubicBezTo>
                    <a:pt x="35067" y="812800"/>
                    <a:pt x="0" y="777733"/>
                    <a:pt x="0" y="734475"/>
                  </a:cubicBezTo>
                  <a:lnTo>
                    <a:pt x="0" y="78325"/>
                  </a:lnTo>
                  <a:cubicBezTo>
                    <a:pt x="0" y="35067"/>
                    <a:pt x="35067" y="0"/>
                    <a:pt x="78325" y="0"/>
                  </a:cubicBezTo>
                  <a:close/>
                </a:path>
              </a:pathLst>
            </a:custGeom>
            <a:blipFill>
              <a:blip r:embed="rId2"/>
              <a:stretch>
                <a:fillRect l="-311708" r="-44219"/>
              </a:stretch>
            </a:blipFill>
          </p:spPr>
          <p:txBody>
            <a:bodyPr/>
            <a:lstStyle/>
            <a:p>
              <a:endParaRPr lang="vi-VN" sz="1200" noProof="1"/>
            </a:p>
          </p:txBody>
        </p:sp>
      </p:grpSp>
      <p:grpSp>
        <p:nvGrpSpPr>
          <p:cNvPr id="16" name="Group 16"/>
          <p:cNvGrpSpPr/>
          <p:nvPr/>
        </p:nvGrpSpPr>
        <p:grpSpPr>
          <a:xfrm>
            <a:off x="11948774" y="5685748"/>
            <a:ext cx="486453" cy="486453"/>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18" name="TextBox 18"/>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sp>
        <p:nvSpPr>
          <p:cNvPr id="24" name="TextBox 24"/>
          <p:cNvSpPr txBox="1"/>
          <p:nvPr/>
        </p:nvSpPr>
        <p:spPr>
          <a:xfrm>
            <a:off x="1483100" y="1427056"/>
            <a:ext cx="3133486" cy="666464"/>
          </a:xfrm>
          <a:prstGeom prst="rect">
            <a:avLst/>
          </a:prstGeom>
        </p:spPr>
        <p:txBody>
          <a:bodyPr lIns="0" tIns="0" rIns="0" bIns="0" rtlCol="0" anchor="t">
            <a:spAutoFit/>
          </a:bodyPr>
          <a:lstStyle/>
          <a:p>
            <a:pPr>
              <a:lnSpc>
                <a:spcPts val="5667"/>
              </a:lnSpc>
              <a:spcBef>
                <a:spcPct val="0"/>
              </a:spcBef>
            </a:pPr>
            <a:r>
              <a:rPr lang="vi-VN" sz="4048" b="1" noProof="1">
                <a:latin typeface="Century Gothic Paneuropean Bold"/>
                <a:ea typeface="Century Gothic Paneuropean Bold"/>
                <a:cs typeface="Century Gothic Paneuropean Bold"/>
                <a:sym typeface="Century Gothic Paneuropean Bold"/>
              </a:rPr>
              <a:t>Thank You</a:t>
            </a:r>
          </a:p>
        </p:txBody>
      </p:sp>
      <p:grpSp>
        <p:nvGrpSpPr>
          <p:cNvPr id="25" name="Group 25"/>
          <p:cNvGrpSpPr/>
          <p:nvPr/>
        </p:nvGrpSpPr>
        <p:grpSpPr>
          <a:xfrm>
            <a:off x="1483101" y="2260505"/>
            <a:ext cx="653967" cy="66042"/>
            <a:chOff x="0" y="0"/>
            <a:chExt cx="258358" cy="26091"/>
          </a:xfrm>
        </p:grpSpPr>
        <p:sp>
          <p:nvSpPr>
            <p:cNvPr id="26" name="Freeform 26"/>
            <p:cNvSpPr/>
            <p:nvPr/>
          </p:nvSpPr>
          <p:spPr>
            <a:xfrm>
              <a:off x="0" y="0"/>
              <a:ext cx="258358" cy="26091"/>
            </a:xfrm>
            <a:custGeom>
              <a:avLst/>
              <a:gdLst/>
              <a:ahLst/>
              <a:cxnLst/>
              <a:rect l="l" t="t" r="r" b="b"/>
              <a:pathLst>
                <a:path w="258358" h="26091">
                  <a:moveTo>
                    <a:pt x="13045" y="0"/>
                  </a:moveTo>
                  <a:lnTo>
                    <a:pt x="245312" y="0"/>
                  </a:lnTo>
                  <a:cubicBezTo>
                    <a:pt x="248772" y="0"/>
                    <a:pt x="252090" y="1374"/>
                    <a:pt x="254537" y="3821"/>
                  </a:cubicBezTo>
                  <a:cubicBezTo>
                    <a:pt x="256983" y="6267"/>
                    <a:pt x="258358" y="9585"/>
                    <a:pt x="258358" y="13045"/>
                  </a:cubicBezTo>
                  <a:lnTo>
                    <a:pt x="258358" y="13045"/>
                  </a:lnTo>
                  <a:cubicBezTo>
                    <a:pt x="258358" y="20250"/>
                    <a:pt x="252517" y="26091"/>
                    <a:pt x="245312" y="26091"/>
                  </a:cubicBezTo>
                  <a:lnTo>
                    <a:pt x="13045" y="26091"/>
                  </a:lnTo>
                  <a:cubicBezTo>
                    <a:pt x="5841" y="26091"/>
                    <a:pt x="0" y="20250"/>
                    <a:pt x="0" y="13045"/>
                  </a:cubicBezTo>
                  <a:lnTo>
                    <a:pt x="0" y="13045"/>
                  </a:lnTo>
                  <a:cubicBezTo>
                    <a:pt x="0" y="5841"/>
                    <a:pt x="5841" y="0"/>
                    <a:pt x="13045" y="0"/>
                  </a:cubicBezTo>
                  <a:close/>
                </a:path>
              </a:pathLst>
            </a:custGeom>
            <a:solidFill>
              <a:srgbClr val="7AC4FF"/>
            </a:solidFill>
          </p:spPr>
          <p:txBody>
            <a:bodyPr/>
            <a:lstStyle/>
            <a:p>
              <a:endParaRPr lang="vi-VN" sz="1200" noProof="1"/>
            </a:p>
          </p:txBody>
        </p:sp>
        <p:sp>
          <p:nvSpPr>
            <p:cNvPr id="27" name="TextBox 27"/>
            <p:cNvSpPr txBox="1"/>
            <p:nvPr/>
          </p:nvSpPr>
          <p:spPr>
            <a:xfrm>
              <a:off x="0" y="-38100"/>
              <a:ext cx="258358" cy="64191"/>
            </a:xfrm>
            <a:prstGeom prst="rect">
              <a:avLst/>
            </a:prstGeom>
          </p:spPr>
          <p:txBody>
            <a:bodyPr lIns="33867" tIns="33867" rIns="33867" bIns="33867" rtlCol="0" anchor="ctr"/>
            <a:lstStyle/>
            <a:p>
              <a:pPr algn="ctr">
                <a:lnSpc>
                  <a:spcPts val="1773"/>
                </a:lnSpc>
              </a:pPr>
              <a:endParaRPr lang="vi-VN" sz="1200" noProof="1"/>
            </a:p>
          </p:txBody>
        </p:sp>
      </p:grpSp>
      <p:grpSp>
        <p:nvGrpSpPr>
          <p:cNvPr id="28" name="Group 28"/>
          <p:cNvGrpSpPr/>
          <p:nvPr/>
        </p:nvGrpSpPr>
        <p:grpSpPr>
          <a:xfrm>
            <a:off x="2165382" y="2260505"/>
            <a:ext cx="66042" cy="66042"/>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C4FF"/>
            </a:solidFill>
          </p:spPr>
          <p:txBody>
            <a:bodyPr/>
            <a:lstStyle/>
            <a:p>
              <a:endParaRPr lang="vi-VN" sz="1200" noProof="1"/>
            </a:p>
          </p:txBody>
        </p:sp>
        <p:sp>
          <p:nvSpPr>
            <p:cNvPr id="30" name="TextBox 30"/>
            <p:cNvSpPr txBox="1"/>
            <p:nvPr/>
          </p:nvSpPr>
          <p:spPr>
            <a:xfrm>
              <a:off x="76200" y="38100"/>
              <a:ext cx="660400" cy="698500"/>
            </a:xfrm>
            <a:prstGeom prst="rect">
              <a:avLst/>
            </a:prstGeom>
          </p:spPr>
          <p:txBody>
            <a:bodyPr lIns="33867" tIns="33867" rIns="33867" bIns="33867" rtlCol="0" anchor="ctr"/>
            <a:lstStyle/>
            <a:p>
              <a:pPr algn="ctr">
                <a:lnSpc>
                  <a:spcPts val="1773"/>
                </a:lnSpc>
              </a:pPr>
              <a:endParaRPr lang="vi-VN" sz="1200" noProof="1"/>
            </a:p>
          </p:txBody>
        </p:sp>
      </p:grpSp>
      <p:pic>
        <p:nvPicPr>
          <p:cNvPr id="31" name="Picture 2" descr="KHOA ĐIỆN TỬ VIỄN THÔNG">
            <a:extLst>
              <a:ext uri="{FF2B5EF4-FFF2-40B4-BE49-F238E27FC236}">
                <a16:creationId xmlns:a16="http://schemas.microsoft.com/office/drawing/2014/main" id="{A35B273E-3F51-1CFD-B551-2B3547CC2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20" y="102474"/>
            <a:ext cx="603250" cy="603250"/>
          </a:xfrm>
          <a:prstGeom prst="rect">
            <a:avLst/>
          </a:prstGeom>
          <a:noFill/>
          <a:extLst>
            <a:ext uri="{909E8E84-426E-40DD-AFC4-6F175D3DCCD1}">
              <a14:hiddenFill xmlns:a14="http://schemas.microsoft.com/office/drawing/2010/main">
                <a:solidFill>
                  <a:srgbClr val="FFFFFF"/>
                </a:solidFill>
              </a14:hiddenFill>
            </a:ext>
          </a:extLst>
        </p:spPr>
      </p:pic>
      <p:sp>
        <p:nvSpPr>
          <p:cNvPr id="3" name="Chỗ dành sẵn cho Số hiệu Bản chiếu 2">
            <a:extLst>
              <a:ext uri="{FF2B5EF4-FFF2-40B4-BE49-F238E27FC236}">
                <a16:creationId xmlns:a16="http://schemas.microsoft.com/office/drawing/2014/main" id="{A10B5B1E-38C8-632C-7591-0D86D4D9EC6A}"/>
              </a:ext>
            </a:extLst>
          </p:cNvPr>
          <p:cNvSpPr>
            <a:spLocks noGrp="1"/>
          </p:cNvSpPr>
          <p:nvPr>
            <p:ph type="sldNum" sz="quarter" idx="12"/>
          </p:nvPr>
        </p:nvSpPr>
        <p:spPr/>
        <p:txBody>
          <a:bodyPr/>
          <a:lstStyle/>
          <a:p>
            <a:fld id="{47EAD358-37BE-4FE3-9163-1C89D475336D}" type="slidenum">
              <a:rPr lang="en-AE" smtClean="0"/>
              <a:t>18</a:t>
            </a:fld>
            <a:endParaRPr lang="en-AE"/>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416</TotalTime>
  <Words>768</Words>
  <Application>Microsoft Office PowerPoint</Application>
  <PresentationFormat>Màn hình rộng</PresentationFormat>
  <Paragraphs>125</Paragraphs>
  <Slides>18</Slides>
  <Notes>0</Notes>
  <HiddenSlides>0</HiddenSlides>
  <MMClips>0</MMClips>
  <ScaleCrop>false</ScaleCrop>
  <HeadingPairs>
    <vt:vector size="6" baseType="variant">
      <vt:variant>
        <vt:lpstr>Phông được Dùng</vt:lpstr>
      </vt:variant>
      <vt:variant>
        <vt:i4>8</vt:i4>
      </vt:variant>
      <vt:variant>
        <vt:lpstr>Chủ đề</vt:lpstr>
      </vt:variant>
      <vt:variant>
        <vt:i4>1</vt:i4>
      </vt:variant>
      <vt:variant>
        <vt:lpstr>Tiêu đề Bản chiếu</vt:lpstr>
      </vt:variant>
      <vt:variant>
        <vt:i4>18</vt:i4>
      </vt:variant>
    </vt:vector>
  </HeadingPairs>
  <TitlesOfParts>
    <vt:vector size="27" baseType="lpstr">
      <vt:lpstr>Aptos</vt:lpstr>
      <vt:lpstr>Aptos Display</vt:lpstr>
      <vt:lpstr>Arial</vt:lpstr>
      <vt:lpstr>Canva Sans Bold</vt:lpstr>
      <vt:lpstr>Century Gothic Paneuropean Bold</vt:lpstr>
      <vt:lpstr>Open Sans</vt:lpstr>
      <vt:lpstr>Open Sans Bold</vt:lpstr>
      <vt:lpstr>Wingdings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Lê Duy Tân</dc:creator>
  <cp:lastModifiedBy>Võ Vin</cp:lastModifiedBy>
  <cp:revision>2</cp:revision>
  <dcterms:created xsi:type="dcterms:W3CDTF">2025-11-10T09:02:25Z</dcterms:created>
  <dcterms:modified xsi:type="dcterms:W3CDTF">2025-11-11T01:57:57Z</dcterms:modified>
</cp:coreProperties>
</file>